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78" r:id="rId5"/>
    <p:sldId id="269" r:id="rId6"/>
    <p:sldId id="273" r:id="rId7"/>
    <p:sldId id="282" r:id="rId8"/>
    <p:sldId id="277" r:id="rId9"/>
    <p:sldId id="268" r:id="rId10"/>
    <p:sldId id="284" r:id="rId11"/>
    <p:sldId id="283" r:id="rId12"/>
    <p:sldId id="281" r:id="rId13"/>
    <p:sldId id="293" r:id="rId14"/>
    <p:sldId id="294" r:id="rId15"/>
    <p:sldId id="285" r:id="rId16"/>
    <p:sldId id="291" r:id="rId17"/>
    <p:sldId id="286" r:id="rId18"/>
    <p:sldId id="308" r:id="rId19"/>
    <p:sldId id="288" r:id="rId20"/>
    <p:sldId id="292" r:id="rId21"/>
    <p:sldId id="296" r:id="rId22"/>
    <p:sldId id="297" r:id="rId23"/>
    <p:sldId id="298" r:id="rId24"/>
    <p:sldId id="295" r:id="rId25"/>
    <p:sldId id="300" r:id="rId26"/>
    <p:sldId id="301" r:id="rId27"/>
    <p:sldId id="302" r:id="rId28"/>
    <p:sldId id="303" r:id="rId29"/>
    <p:sldId id="309" r:id="rId30"/>
    <p:sldId id="313" r:id="rId31"/>
    <p:sldId id="312" r:id="rId32"/>
    <p:sldId id="311" r:id="rId33"/>
    <p:sldId id="314" r:id="rId34"/>
    <p:sldId id="315" r:id="rId35"/>
    <p:sldId id="316" r:id="rId36"/>
    <p:sldId id="310" r:id="rId37"/>
    <p:sldId id="304" r:id="rId38"/>
    <p:sldId id="305" r:id="rId39"/>
    <p:sldId id="306" r:id="rId40"/>
    <p:sldId id="307" r:id="rId41"/>
    <p:sldId id="317" r:id="rId42"/>
    <p:sldId id="318" r:id="rId43"/>
    <p:sldId id="319" r:id="rId44"/>
    <p:sldId id="320" r:id="rId45"/>
    <p:sldId id="321" r:id="rId46"/>
    <p:sldId id="322" r:id="rId47"/>
    <p:sldId id="324" r:id="rId48"/>
    <p:sldId id="323" r:id="rId49"/>
    <p:sldId id="328" r:id="rId50"/>
    <p:sldId id="325" r:id="rId51"/>
    <p:sldId id="326" r:id="rId52"/>
    <p:sldId id="329" r:id="rId53"/>
    <p:sldId id="327"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C1D7"/>
    <a:srgbClr val="4472C4"/>
    <a:srgbClr val="273852"/>
    <a:srgbClr val="151E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137" autoAdjust="0"/>
    <p:restoredTop sz="94660"/>
  </p:normalViewPr>
  <p:slideViewPr>
    <p:cSldViewPr snapToGrid="0">
      <p:cViewPr varScale="1">
        <p:scale>
          <a:sx n="82" d="100"/>
          <a:sy n="82" d="100"/>
        </p:scale>
        <p:origin x="61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20382E0-383C-40BD-B191-2EE3638CD38D}" type="datetimeFigureOut">
              <a:rPr lang="en-US" smtClean="0"/>
              <a:t>10/4/2025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021E08E1-0D96-4EA0-8F61-331E7E43C092}" type="slidenum">
              <a:rPr lang="en-US" smtClean="0"/>
              <a:t>‹#›</a:t>
            </a:fld>
            <a:endParaRPr lang="en-US" dirty="0"/>
          </a:p>
        </p:txBody>
      </p:sp>
    </p:spTree>
    <p:extLst>
      <p:ext uri="{BB962C8B-B14F-4D97-AF65-F5344CB8AC3E}">
        <p14:creationId xmlns:p14="http://schemas.microsoft.com/office/powerpoint/2010/main" val="344942220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0382E0-383C-40BD-B191-2EE3638CD38D}" type="datetimeFigureOut">
              <a:rPr lang="en-US" smtClean="0"/>
              <a:t>10/4/2025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21E08E1-0D96-4EA0-8F61-331E7E43C092}" type="slidenum">
              <a:rPr lang="en-US" smtClean="0"/>
              <a:t>‹#›</a:t>
            </a:fld>
            <a:endParaRPr lang="en-US" dirty="0"/>
          </a:p>
        </p:txBody>
      </p:sp>
    </p:spTree>
    <p:extLst>
      <p:ext uri="{BB962C8B-B14F-4D97-AF65-F5344CB8AC3E}">
        <p14:creationId xmlns:p14="http://schemas.microsoft.com/office/powerpoint/2010/main" val="2087543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0382E0-383C-40BD-B191-2EE3638CD38D}" type="datetimeFigureOut">
              <a:rPr lang="en-US" smtClean="0"/>
              <a:t>10/4/2025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21E08E1-0D96-4EA0-8F61-331E7E43C092}" type="slidenum">
              <a:rPr lang="en-US" smtClean="0"/>
              <a:t>‹#›</a:t>
            </a:fld>
            <a:endParaRPr lang="en-US" dirty="0"/>
          </a:p>
        </p:txBody>
      </p:sp>
    </p:spTree>
    <p:extLst>
      <p:ext uri="{BB962C8B-B14F-4D97-AF65-F5344CB8AC3E}">
        <p14:creationId xmlns:p14="http://schemas.microsoft.com/office/powerpoint/2010/main" val="2389395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20382E0-383C-40BD-B191-2EE3638CD38D}" type="datetimeFigureOut">
              <a:rPr lang="en-US" smtClean="0"/>
              <a:t>10/4/2025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21E08E1-0D96-4EA0-8F61-331E7E43C092}" type="slidenum">
              <a:rPr lang="en-US" smtClean="0"/>
              <a:t>‹#›</a:t>
            </a:fld>
            <a:endParaRPr lang="en-US" dirty="0"/>
          </a:p>
        </p:txBody>
      </p:sp>
    </p:spTree>
    <p:extLst>
      <p:ext uri="{BB962C8B-B14F-4D97-AF65-F5344CB8AC3E}">
        <p14:creationId xmlns:p14="http://schemas.microsoft.com/office/powerpoint/2010/main" val="170897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20382E0-383C-40BD-B191-2EE3638CD38D}" type="datetimeFigureOut">
              <a:rPr lang="en-US" smtClean="0"/>
              <a:t>10/4/2025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21E08E1-0D96-4EA0-8F61-331E7E43C092}" type="slidenum">
              <a:rPr lang="en-US" smtClean="0"/>
              <a:t>‹#›</a:t>
            </a:fld>
            <a:endParaRPr lang="en-US" dirty="0"/>
          </a:p>
        </p:txBody>
      </p:sp>
    </p:spTree>
    <p:extLst>
      <p:ext uri="{BB962C8B-B14F-4D97-AF65-F5344CB8AC3E}">
        <p14:creationId xmlns:p14="http://schemas.microsoft.com/office/powerpoint/2010/main" val="122054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20382E0-383C-40BD-B191-2EE3638CD38D}" type="datetimeFigureOut">
              <a:rPr lang="en-US" smtClean="0"/>
              <a:t>10/4/2025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21E08E1-0D96-4EA0-8F61-331E7E43C092}" type="slidenum">
              <a:rPr lang="en-US" smtClean="0"/>
              <a:t>‹#›</a:t>
            </a:fld>
            <a:endParaRPr lang="en-US" dirty="0"/>
          </a:p>
        </p:txBody>
      </p:sp>
    </p:spTree>
    <p:extLst>
      <p:ext uri="{BB962C8B-B14F-4D97-AF65-F5344CB8AC3E}">
        <p14:creationId xmlns:p14="http://schemas.microsoft.com/office/powerpoint/2010/main" val="2781290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20382E0-383C-40BD-B191-2EE3638CD38D}" type="datetimeFigureOut">
              <a:rPr lang="en-US" smtClean="0"/>
              <a:t>10/4/2025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21E08E1-0D96-4EA0-8F61-331E7E43C092}" type="slidenum">
              <a:rPr lang="en-US" smtClean="0"/>
              <a:t>‹#›</a:t>
            </a:fld>
            <a:endParaRPr lang="en-US" dirty="0"/>
          </a:p>
        </p:txBody>
      </p:sp>
    </p:spTree>
    <p:extLst>
      <p:ext uri="{BB962C8B-B14F-4D97-AF65-F5344CB8AC3E}">
        <p14:creationId xmlns:p14="http://schemas.microsoft.com/office/powerpoint/2010/main" val="3935107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0382E0-383C-40BD-B191-2EE3638CD38D}" type="datetimeFigureOut">
              <a:rPr lang="en-US" smtClean="0"/>
              <a:t>10/4/2025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21E08E1-0D96-4EA0-8F61-331E7E43C092}" type="slidenum">
              <a:rPr lang="en-US" smtClean="0"/>
              <a:t>‹#›</a:t>
            </a:fld>
            <a:endParaRPr lang="en-US" dirty="0"/>
          </a:p>
        </p:txBody>
      </p:sp>
    </p:spTree>
    <p:extLst>
      <p:ext uri="{BB962C8B-B14F-4D97-AF65-F5344CB8AC3E}">
        <p14:creationId xmlns:p14="http://schemas.microsoft.com/office/powerpoint/2010/main" val="3131520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0382E0-383C-40BD-B191-2EE3638CD38D}" type="datetimeFigureOut">
              <a:rPr lang="en-US" smtClean="0"/>
              <a:t>10/4/2025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21E08E1-0D96-4EA0-8F61-331E7E43C092}" type="slidenum">
              <a:rPr lang="en-US" smtClean="0"/>
              <a:t>‹#›</a:t>
            </a:fld>
            <a:endParaRPr lang="en-US" dirty="0"/>
          </a:p>
        </p:txBody>
      </p:sp>
    </p:spTree>
    <p:extLst>
      <p:ext uri="{BB962C8B-B14F-4D97-AF65-F5344CB8AC3E}">
        <p14:creationId xmlns:p14="http://schemas.microsoft.com/office/powerpoint/2010/main" val="704925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0382E0-383C-40BD-B191-2EE3638CD38D}" type="datetimeFigureOut">
              <a:rPr lang="en-US" smtClean="0"/>
              <a:t>10/4/2025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21E08E1-0D96-4EA0-8F61-331E7E43C092}" type="slidenum">
              <a:rPr lang="en-US" smtClean="0"/>
              <a:t>‹#›</a:t>
            </a:fld>
            <a:endParaRPr lang="en-US" dirty="0"/>
          </a:p>
        </p:txBody>
      </p:sp>
    </p:spTree>
    <p:extLst>
      <p:ext uri="{BB962C8B-B14F-4D97-AF65-F5344CB8AC3E}">
        <p14:creationId xmlns:p14="http://schemas.microsoft.com/office/powerpoint/2010/main" val="3818232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0382E0-383C-40BD-B191-2EE3638CD38D}" type="datetimeFigureOut">
              <a:rPr lang="en-US" smtClean="0"/>
              <a:t>10/4/2025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21E08E1-0D96-4EA0-8F61-331E7E43C092}" type="slidenum">
              <a:rPr lang="en-US" smtClean="0"/>
              <a:t>‹#›</a:t>
            </a:fld>
            <a:endParaRPr lang="en-US" dirty="0"/>
          </a:p>
        </p:txBody>
      </p:sp>
    </p:spTree>
    <p:extLst>
      <p:ext uri="{BB962C8B-B14F-4D97-AF65-F5344CB8AC3E}">
        <p14:creationId xmlns:p14="http://schemas.microsoft.com/office/powerpoint/2010/main" val="15004306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0382E0-383C-40BD-B191-2EE3638CD38D}" type="datetimeFigureOut">
              <a:rPr lang="en-US" smtClean="0"/>
              <a:t>10/4/2025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21E08E1-0D96-4EA0-8F61-331E7E43C092}" type="slidenum">
              <a:rPr lang="en-US" smtClean="0"/>
              <a:t>‹#›</a:t>
            </a:fld>
            <a:endParaRPr lang="en-US" dirty="0"/>
          </a:p>
        </p:txBody>
      </p:sp>
    </p:spTree>
    <p:extLst>
      <p:ext uri="{BB962C8B-B14F-4D97-AF65-F5344CB8AC3E}">
        <p14:creationId xmlns:p14="http://schemas.microsoft.com/office/powerpoint/2010/main" val="22831139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0382E0-383C-40BD-B191-2EE3638CD38D}" type="datetimeFigureOut">
              <a:rPr lang="en-US" smtClean="0"/>
              <a:t>10/4/2025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21E08E1-0D96-4EA0-8F61-331E7E43C092}" type="slidenum">
              <a:rPr lang="en-US" smtClean="0"/>
              <a:t>‹#›</a:t>
            </a:fld>
            <a:endParaRPr lang="en-US" dirty="0"/>
          </a:p>
        </p:txBody>
      </p:sp>
    </p:spTree>
    <p:extLst>
      <p:ext uri="{BB962C8B-B14F-4D97-AF65-F5344CB8AC3E}">
        <p14:creationId xmlns:p14="http://schemas.microsoft.com/office/powerpoint/2010/main" val="14021633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0382E0-383C-40BD-B191-2EE3638CD38D}" type="datetimeFigureOut">
              <a:rPr lang="en-US" smtClean="0"/>
              <a:t>10/4/2025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21E08E1-0D96-4EA0-8F61-331E7E43C092}" type="slidenum">
              <a:rPr lang="en-US" smtClean="0"/>
              <a:t>‹#›</a:t>
            </a:fld>
            <a:endParaRPr lang="en-US" dirty="0"/>
          </a:p>
        </p:txBody>
      </p:sp>
    </p:spTree>
    <p:extLst>
      <p:ext uri="{BB962C8B-B14F-4D97-AF65-F5344CB8AC3E}">
        <p14:creationId xmlns:p14="http://schemas.microsoft.com/office/powerpoint/2010/main" val="21758314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0382E0-383C-40BD-B191-2EE3638CD38D}" type="datetimeFigureOut">
              <a:rPr lang="en-US" smtClean="0"/>
              <a:t>10/4/2025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21E08E1-0D96-4EA0-8F61-331E7E43C092}" type="slidenum">
              <a:rPr lang="en-US" smtClean="0"/>
              <a:t>‹#›</a:t>
            </a:fld>
            <a:endParaRPr lang="en-US" dirty="0"/>
          </a:p>
        </p:txBody>
      </p:sp>
    </p:spTree>
    <p:extLst>
      <p:ext uri="{BB962C8B-B14F-4D97-AF65-F5344CB8AC3E}">
        <p14:creationId xmlns:p14="http://schemas.microsoft.com/office/powerpoint/2010/main" val="22419166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0382E0-383C-40BD-B191-2EE3638CD38D}" type="datetimeFigureOut">
              <a:rPr lang="en-US" smtClean="0"/>
              <a:t>10/4/2025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21E08E1-0D96-4EA0-8F61-331E7E43C092}" type="slidenum">
              <a:rPr lang="en-US" smtClean="0"/>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12444823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0382E0-383C-40BD-B191-2EE3638CD38D}" type="datetimeFigureOut">
              <a:rPr lang="en-US" smtClean="0"/>
              <a:t>10/4/2025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21E08E1-0D96-4EA0-8F61-331E7E43C092}" type="slidenum">
              <a:rPr lang="en-US" smtClean="0"/>
              <a:t>‹#›</a:t>
            </a:fld>
            <a:endParaRPr lang="en-US" dirty="0"/>
          </a:p>
        </p:txBody>
      </p:sp>
    </p:spTree>
    <p:extLst>
      <p:ext uri="{BB962C8B-B14F-4D97-AF65-F5344CB8AC3E}">
        <p14:creationId xmlns:p14="http://schemas.microsoft.com/office/powerpoint/2010/main" val="578636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20382E0-383C-40BD-B191-2EE3638CD38D}" type="datetimeFigureOut">
              <a:rPr lang="en-US" smtClean="0"/>
              <a:t>10/4/2025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21E08E1-0D96-4EA0-8F61-331E7E43C092}" type="slidenum">
              <a:rPr lang="en-US" smtClean="0"/>
              <a:t>‹#›</a:t>
            </a:fld>
            <a:endParaRPr lang="en-US" dirty="0"/>
          </a:p>
        </p:txBody>
      </p:sp>
    </p:spTree>
    <p:extLst>
      <p:ext uri="{BB962C8B-B14F-4D97-AF65-F5344CB8AC3E}">
        <p14:creationId xmlns:p14="http://schemas.microsoft.com/office/powerpoint/2010/main" val="359041274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ithub.com/google/gson" TargetMode="Externa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9F5A2-23BE-6826-1C31-B59570B4B41E}"/>
              </a:ext>
            </a:extLst>
          </p:cNvPr>
          <p:cNvSpPr>
            <a:spLocks noGrp="1"/>
          </p:cNvSpPr>
          <p:nvPr>
            <p:ph type="ctrTitle"/>
          </p:nvPr>
        </p:nvSpPr>
        <p:spPr>
          <a:xfrm>
            <a:off x="3890865" y="1143173"/>
            <a:ext cx="7549178" cy="2421464"/>
          </a:xfrm>
        </p:spPr>
        <p:txBody>
          <a:bodyPr/>
          <a:lstStyle/>
          <a:p>
            <a:r>
              <a:rPr lang="en-US" dirty="0"/>
              <a:t>Performing </a:t>
            </a:r>
            <a:r>
              <a:rPr lang="en-US" b="1" dirty="0">
                <a:solidFill>
                  <a:srgbClr val="92D050"/>
                </a:solidFill>
              </a:rPr>
              <a:t>post</a:t>
            </a:r>
            <a:r>
              <a:rPr lang="en-US" dirty="0"/>
              <a:t> request</a:t>
            </a:r>
            <a:endParaRPr lang="en-IN" dirty="0"/>
          </a:p>
        </p:txBody>
      </p:sp>
      <p:sp>
        <p:nvSpPr>
          <p:cNvPr id="3" name="Subtitle 2">
            <a:extLst>
              <a:ext uri="{FF2B5EF4-FFF2-40B4-BE49-F238E27FC236}">
                <a16:creationId xmlns:a16="http://schemas.microsoft.com/office/drawing/2014/main" id="{9B80C28B-675A-C642-8D83-78CAB5202788}"/>
              </a:ext>
            </a:extLst>
          </p:cNvPr>
          <p:cNvSpPr>
            <a:spLocks noGrp="1"/>
          </p:cNvSpPr>
          <p:nvPr>
            <p:ph type="subTitle" idx="1"/>
          </p:nvPr>
        </p:nvSpPr>
        <p:spPr>
          <a:xfrm>
            <a:off x="4242317" y="3564638"/>
            <a:ext cx="7197726" cy="1405467"/>
          </a:xfrm>
        </p:spPr>
        <p:txBody>
          <a:bodyPr/>
          <a:lstStyle/>
          <a:p>
            <a:r>
              <a:rPr lang="en-US" b="1" dirty="0">
                <a:solidFill>
                  <a:srgbClr val="92D050"/>
                </a:solidFill>
              </a:rPr>
              <a:t>Rest Assured Library</a:t>
            </a:r>
            <a:endParaRPr lang="en-IN" b="1" dirty="0">
              <a:solidFill>
                <a:srgbClr val="92D050"/>
              </a:solidFill>
            </a:endParaRPr>
          </a:p>
        </p:txBody>
      </p:sp>
    </p:spTree>
    <p:extLst>
      <p:ext uri="{BB962C8B-B14F-4D97-AF65-F5344CB8AC3E}">
        <p14:creationId xmlns:p14="http://schemas.microsoft.com/office/powerpoint/2010/main" val="3101987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35D61-B0B2-45B5-BEB6-67F9991629B3}"/>
              </a:ext>
            </a:extLst>
          </p:cNvPr>
          <p:cNvSpPr>
            <a:spLocks noGrp="1"/>
          </p:cNvSpPr>
          <p:nvPr>
            <p:ph type="title"/>
          </p:nvPr>
        </p:nvSpPr>
        <p:spPr>
          <a:xfrm>
            <a:off x="838200" y="827558"/>
            <a:ext cx="10515600" cy="1325563"/>
          </a:xfrm>
        </p:spPr>
        <p:txBody>
          <a:bodyPr>
            <a:normAutofit/>
          </a:bodyPr>
          <a:lstStyle/>
          <a:p>
            <a:pPr algn="ctr"/>
            <a:r>
              <a:rPr lang="en-US" sz="5400" dirty="0">
                <a:latin typeface="+mn-lt"/>
              </a:rPr>
              <a:t>REST-Assured Pattern</a:t>
            </a:r>
          </a:p>
        </p:txBody>
      </p:sp>
      <p:sp>
        <p:nvSpPr>
          <p:cNvPr id="3" name="Rectangle 2">
            <a:extLst>
              <a:ext uri="{FF2B5EF4-FFF2-40B4-BE49-F238E27FC236}">
                <a16:creationId xmlns:a16="http://schemas.microsoft.com/office/drawing/2014/main" id="{FB6854C5-41FD-9AB1-2301-8D39AD7C309B}"/>
              </a:ext>
            </a:extLst>
          </p:cNvPr>
          <p:cNvSpPr/>
          <p:nvPr/>
        </p:nvSpPr>
        <p:spPr>
          <a:xfrm>
            <a:off x="2202489" y="2458558"/>
            <a:ext cx="3717453" cy="840802"/>
          </a:xfrm>
          <a:prstGeom prst="rect">
            <a:avLst/>
          </a:prstGeom>
          <a:solidFill>
            <a:srgbClr val="0070C0"/>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Given</a:t>
            </a:r>
          </a:p>
        </p:txBody>
      </p:sp>
      <p:sp>
        <p:nvSpPr>
          <p:cNvPr id="5" name="Rectangle 4">
            <a:extLst>
              <a:ext uri="{FF2B5EF4-FFF2-40B4-BE49-F238E27FC236}">
                <a16:creationId xmlns:a16="http://schemas.microsoft.com/office/drawing/2014/main" id="{2DA5959F-99ED-746A-AB5C-5E593247D2F3}"/>
              </a:ext>
            </a:extLst>
          </p:cNvPr>
          <p:cNvSpPr/>
          <p:nvPr/>
        </p:nvSpPr>
        <p:spPr>
          <a:xfrm>
            <a:off x="2202489" y="3401704"/>
            <a:ext cx="3717453" cy="840802"/>
          </a:xfrm>
          <a:prstGeom prst="rect">
            <a:avLst/>
          </a:prstGeom>
          <a:solidFill>
            <a:srgbClr val="39C1D7"/>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When</a:t>
            </a:r>
          </a:p>
        </p:txBody>
      </p:sp>
      <p:sp>
        <p:nvSpPr>
          <p:cNvPr id="6" name="Rectangle 5">
            <a:extLst>
              <a:ext uri="{FF2B5EF4-FFF2-40B4-BE49-F238E27FC236}">
                <a16:creationId xmlns:a16="http://schemas.microsoft.com/office/drawing/2014/main" id="{E12A3A6B-E1CA-FB23-62FB-B77069726658}"/>
              </a:ext>
            </a:extLst>
          </p:cNvPr>
          <p:cNvSpPr/>
          <p:nvPr/>
        </p:nvSpPr>
        <p:spPr>
          <a:xfrm>
            <a:off x="2202489" y="4344850"/>
            <a:ext cx="3717453" cy="840802"/>
          </a:xfrm>
          <a:prstGeom prst="rect">
            <a:avLst/>
          </a:prstGeom>
          <a:solidFill>
            <a:schemeClr val="bg1">
              <a:lumMod val="8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Then</a:t>
            </a:r>
          </a:p>
        </p:txBody>
      </p:sp>
      <p:sp>
        <p:nvSpPr>
          <p:cNvPr id="7" name="Rectangle 6">
            <a:extLst>
              <a:ext uri="{FF2B5EF4-FFF2-40B4-BE49-F238E27FC236}">
                <a16:creationId xmlns:a16="http://schemas.microsoft.com/office/drawing/2014/main" id="{9213F555-6E05-5C33-0E4A-781B42DDC9EE}"/>
              </a:ext>
            </a:extLst>
          </p:cNvPr>
          <p:cNvSpPr/>
          <p:nvPr/>
        </p:nvSpPr>
        <p:spPr>
          <a:xfrm>
            <a:off x="6056823" y="2458558"/>
            <a:ext cx="4069816" cy="840802"/>
          </a:xfrm>
          <a:prstGeom prst="rect">
            <a:avLst/>
          </a:prstGeom>
          <a:solidFill>
            <a:srgbClr val="0070C0"/>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Specify Prerequisites</a:t>
            </a:r>
          </a:p>
        </p:txBody>
      </p:sp>
      <p:sp>
        <p:nvSpPr>
          <p:cNvPr id="8" name="Rectangle 7">
            <a:extLst>
              <a:ext uri="{FF2B5EF4-FFF2-40B4-BE49-F238E27FC236}">
                <a16:creationId xmlns:a16="http://schemas.microsoft.com/office/drawing/2014/main" id="{64E0B2E2-B07F-3918-0CE6-DD769D48C843}"/>
              </a:ext>
            </a:extLst>
          </p:cNvPr>
          <p:cNvSpPr/>
          <p:nvPr/>
        </p:nvSpPr>
        <p:spPr>
          <a:xfrm>
            <a:off x="6056823" y="3401704"/>
            <a:ext cx="4069816" cy="840802"/>
          </a:xfrm>
          <a:prstGeom prst="rect">
            <a:avLst/>
          </a:prstGeom>
          <a:solidFill>
            <a:srgbClr val="39C1D7"/>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Describe the action to take</a:t>
            </a:r>
          </a:p>
        </p:txBody>
      </p:sp>
      <p:sp>
        <p:nvSpPr>
          <p:cNvPr id="9" name="Rectangle 8">
            <a:extLst>
              <a:ext uri="{FF2B5EF4-FFF2-40B4-BE49-F238E27FC236}">
                <a16:creationId xmlns:a16="http://schemas.microsoft.com/office/drawing/2014/main" id="{9A7BB851-EC3A-E7F5-3522-33FA47EFD23C}"/>
              </a:ext>
            </a:extLst>
          </p:cNvPr>
          <p:cNvSpPr/>
          <p:nvPr/>
        </p:nvSpPr>
        <p:spPr>
          <a:xfrm>
            <a:off x="6056823" y="4344850"/>
            <a:ext cx="4069816" cy="840802"/>
          </a:xfrm>
          <a:prstGeom prst="rect">
            <a:avLst/>
          </a:prstGeom>
          <a:solidFill>
            <a:schemeClr val="bg1">
              <a:lumMod val="8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Describe the expected result</a:t>
            </a:r>
          </a:p>
        </p:txBody>
      </p:sp>
    </p:spTree>
    <p:extLst>
      <p:ext uri="{BB962C8B-B14F-4D97-AF65-F5344CB8AC3E}">
        <p14:creationId xmlns:p14="http://schemas.microsoft.com/office/powerpoint/2010/main" val="857447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A2B388-2B4F-C517-93EA-B292B54FA340}"/>
              </a:ext>
            </a:extLst>
          </p:cNvPr>
          <p:cNvSpPr txBox="1"/>
          <p:nvPr/>
        </p:nvSpPr>
        <p:spPr>
          <a:xfrm>
            <a:off x="503854" y="2362691"/>
            <a:ext cx="7809722" cy="2585323"/>
          </a:xfrm>
          <a:prstGeom prst="rect">
            <a:avLst/>
          </a:prstGeom>
          <a:noFill/>
        </p:spPr>
        <p:txBody>
          <a:bodyPr wrap="square" rtlCol="0">
            <a:spAutoFit/>
          </a:bodyPr>
          <a:lstStyle/>
          <a:p>
            <a:r>
              <a:rPr lang="en-US" dirty="0"/>
              <a:t>RestAssured.given()</a:t>
            </a:r>
          </a:p>
          <a:p>
            <a:r>
              <a:rPr lang="en-US" dirty="0"/>
              <a:t>                      .auth()</a:t>
            </a:r>
          </a:p>
          <a:p>
            <a:r>
              <a:rPr lang="en-US" dirty="0"/>
              <a:t>                      .basic(“username”, “password”)</a:t>
            </a:r>
          </a:p>
          <a:p>
            <a:r>
              <a:rPr lang="en-US" dirty="0"/>
              <a:t>                      .when()</a:t>
            </a:r>
          </a:p>
          <a:p>
            <a:r>
              <a:rPr lang="en-US" dirty="0"/>
              <a:t>                      .body(“request-payload”)</a:t>
            </a:r>
          </a:p>
          <a:p>
            <a:r>
              <a:rPr lang="en-US" dirty="0"/>
              <a:t>                      .post(“&lt;endpoint-url&gt;”)</a:t>
            </a:r>
          </a:p>
          <a:p>
            <a:r>
              <a:rPr lang="en-US" dirty="0"/>
              <a:t>                      .then()</a:t>
            </a:r>
          </a:p>
          <a:p>
            <a:r>
              <a:rPr lang="en-US" dirty="0"/>
              <a:t>                      .assertThat()</a:t>
            </a:r>
          </a:p>
          <a:p>
            <a:r>
              <a:rPr lang="en-US" dirty="0"/>
              <a:t>                      .statusCode(200);    </a:t>
            </a:r>
            <a:endParaRPr lang="en-IN" dirty="0"/>
          </a:p>
        </p:txBody>
      </p:sp>
      <p:sp>
        <p:nvSpPr>
          <p:cNvPr id="4" name="Title 1">
            <a:extLst>
              <a:ext uri="{FF2B5EF4-FFF2-40B4-BE49-F238E27FC236}">
                <a16:creationId xmlns:a16="http://schemas.microsoft.com/office/drawing/2014/main" id="{3741E70D-7EED-B4A5-762F-B7AAE8DCB914}"/>
              </a:ext>
            </a:extLst>
          </p:cNvPr>
          <p:cNvSpPr>
            <a:spLocks noGrp="1"/>
          </p:cNvSpPr>
          <p:nvPr>
            <p:ph type="title"/>
          </p:nvPr>
        </p:nvSpPr>
        <p:spPr>
          <a:xfrm>
            <a:off x="401216" y="690466"/>
            <a:ext cx="8842397" cy="1496520"/>
          </a:xfrm>
        </p:spPr>
        <p:txBody>
          <a:bodyPr>
            <a:normAutofit/>
          </a:bodyPr>
          <a:lstStyle/>
          <a:p>
            <a:r>
              <a:rPr lang="en-US" sz="5400" b="1" dirty="0">
                <a:latin typeface="+mn-lt"/>
              </a:rPr>
              <a:t>Rest Assured Syntax</a:t>
            </a:r>
          </a:p>
        </p:txBody>
      </p:sp>
    </p:spTree>
    <p:extLst>
      <p:ext uri="{BB962C8B-B14F-4D97-AF65-F5344CB8AC3E}">
        <p14:creationId xmlns:p14="http://schemas.microsoft.com/office/powerpoint/2010/main" val="1274348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9617F-F7A8-41D3-7C65-6DE93C61AFF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513F340-CB8F-6C12-1B74-9164F06DE0B3}"/>
              </a:ext>
            </a:extLst>
          </p:cNvPr>
          <p:cNvSpPr txBox="1"/>
          <p:nvPr/>
        </p:nvSpPr>
        <p:spPr>
          <a:xfrm>
            <a:off x="289250" y="2250724"/>
            <a:ext cx="9573207" cy="4385816"/>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solidFill>
                  <a:srgbClr val="00B0F0"/>
                </a:solidFill>
              </a:rPr>
              <a:t>given()</a:t>
            </a:r>
            <a:r>
              <a:rPr lang="en-US" dirty="0"/>
              <a:t>: This section is used to define the preconditions of the request.</a:t>
            </a:r>
          </a:p>
          <a:p>
            <a:pPr marL="742950" lvl="1" indent="-285750" algn="just">
              <a:lnSpc>
                <a:spcPct val="150000"/>
              </a:lnSpc>
              <a:buFont typeface="Arial" panose="020B0604020202020204" pitchFamily="34" charset="0"/>
              <a:buChar char="•"/>
            </a:pPr>
            <a:r>
              <a:rPr lang="en-US" dirty="0"/>
              <a:t>auth().basic("username", "password"): Adds basic authentication to the request.</a:t>
            </a:r>
          </a:p>
          <a:p>
            <a:pPr marL="285750" indent="-285750" algn="just">
              <a:lnSpc>
                <a:spcPct val="150000"/>
              </a:lnSpc>
              <a:buFont typeface="Arial" panose="020B0604020202020204" pitchFamily="34" charset="0"/>
              <a:buChar char="•"/>
            </a:pPr>
            <a:r>
              <a:rPr lang="en-US" b="1" dirty="0">
                <a:solidFill>
                  <a:srgbClr val="00B0F0"/>
                </a:solidFill>
              </a:rPr>
              <a:t>when()</a:t>
            </a:r>
            <a:r>
              <a:rPr lang="en-US" dirty="0"/>
              <a:t>: This section defines the action to be performed.</a:t>
            </a:r>
          </a:p>
          <a:p>
            <a:pPr marL="742950" lvl="1" indent="-285750" algn="just">
              <a:lnSpc>
                <a:spcPct val="150000"/>
              </a:lnSpc>
              <a:buFont typeface="Arial" panose="020B0604020202020204" pitchFamily="34" charset="0"/>
              <a:buChar char="•"/>
            </a:pPr>
            <a:r>
              <a:rPr lang="en-US" dirty="0"/>
              <a:t>body(“request-payload): Specify the request body that will be sent with an HTTP request, typically for methods like POST, PUT, or PATCH</a:t>
            </a:r>
          </a:p>
          <a:p>
            <a:pPr marL="742950" lvl="1" indent="-285750" algn="just">
              <a:lnSpc>
                <a:spcPct val="150000"/>
              </a:lnSpc>
              <a:buFont typeface="Arial" panose="020B0604020202020204" pitchFamily="34" charset="0"/>
              <a:buChar char="•"/>
            </a:pPr>
            <a:r>
              <a:rPr lang="en-US" dirty="0"/>
              <a:t>post(“/&lt;endpoint-url&gt;"): Specifies the HTTP GET method and the path of the resource to be fetched.</a:t>
            </a:r>
          </a:p>
          <a:p>
            <a:pPr marL="285750" indent="-285750" algn="just">
              <a:lnSpc>
                <a:spcPct val="150000"/>
              </a:lnSpc>
              <a:buFont typeface="Arial" panose="020B0604020202020204" pitchFamily="34" charset="0"/>
              <a:buChar char="•"/>
            </a:pPr>
            <a:r>
              <a:rPr lang="en-US" b="1" dirty="0">
                <a:solidFill>
                  <a:srgbClr val="00B0F0"/>
                </a:solidFill>
              </a:rPr>
              <a:t>then()</a:t>
            </a:r>
            <a:r>
              <a:rPr lang="en-US" dirty="0"/>
              <a:t>: This section defines the assertions to be made on the response.</a:t>
            </a:r>
          </a:p>
          <a:p>
            <a:pPr marL="742950" lvl="1" indent="-285750" algn="just">
              <a:lnSpc>
                <a:spcPct val="150000"/>
              </a:lnSpc>
              <a:buFont typeface="Arial" panose="020B0604020202020204" pitchFamily="34" charset="0"/>
              <a:buChar char="•"/>
            </a:pPr>
            <a:r>
              <a:rPr lang="en-US" dirty="0"/>
              <a:t>statusCode(201): Verifies that the HTTP status code of the response is 201 (Created).</a:t>
            </a:r>
          </a:p>
          <a:p>
            <a:endParaRPr lang="en-US" dirty="0"/>
          </a:p>
          <a:p>
            <a:endParaRPr lang="en-IN" dirty="0"/>
          </a:p>
        </p:txBody>
      </p:sp>
      <p:sp>
        <p:nvSpPr>
          <p:cNvPr id="4" name="Title 1">
            <a:extLst>
              <a:ext uri="{FF2B5EF4-FFF2-40B4-BE49-F238E27FC236}">
                <a16:creationId xmlns:a16="http://schemas.microsoft.com/office/drawing/2014/main" id="{67AD6739-E8FC-881B-EB08-3AC8147E6388}"/>
              </a:ext>
            </a:extLst>
          </p:cNvPr>
          <p:cNvSpPr>
            <a:spLocks noGrp="1"/>
          </p:cNvSpPr>
          <p:nvPr>
            <p:ph type="title"/>
          </p:nvPr>
        </p:nvSpPr>
        <p:spPr>
          <a:xfrm>
            <a:off x="167951" y="1065736"/>
            <a:ext cx="11140751" cy="1296955"/>
          </a:xfrm>
        </p:spPr>
        <p:txBody>
          <a:bodyPr>
            <a:normAutofit fontScale="90000"/>
          </a:bodyPr>
          <a:lstStyle/>
          <a:p>
            <a:r>
              <a:rPr lang="en-US" sz="5300" dirty="0"/>
              <a:t>Explanation of the "Given-When-Then" structure:</a:t>
            </a:r>
            <a:br>
              <a:rPr lang="en-US" dirty="0"/>
            </a:br>
            <a:br>
              <a:rPr lang="en-US" dirty="0"/>
            </a:br>
            <a:endParaRPr lang="en-US" sz="5400" b="1" dirty="0">
              <a:latin typeface="+mn-lt"/>
            </a:endParaRPr>
          </a:p>
        </p:txBody>
      </p:sp>
      <p:sp>
        <p:nvSpPr>
          <p:cNvPr id="8" name="Rectangle 5">
            <a:extLst>
              <a:ext uri="{FF2B5EF4-FFF2-40B4-BE49-F238E27FC236}">
                <a16:creationId xmlns:a16="http://schemas.microsoft.com/office/drawing/2014/main" id="{66D4A731-B495-7304-B1C7-53367A6621D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1D35"/>
                </a:solidFill>
                <a:effectLst/>
                <a:latin typeface="Courier New" panose="02070309020205020404" pitchFamily="49" charset="0"/>
                <a:cs typeface="Courier New" panose="02070309020205020404" pitchFamily="49" charset="0"/>
              </a:rPr>
              <a:t>statusCode(200)</a:t>
            </a:r>
            <a:r>
              <a:rPr kumimoji="0" lang="en-US" altLang="en-US" sz="1200" b="0" i="0" u="none" strike="noStrike" cap="none" normalizeH="0" baseline="0" dirty="0">
                <a:ln>
                  <a:noFill/>
                </a:ln>
                <a:solidFill>
                  <a:srgbClr val="001D35"/>
                </a:solidFill>
                <a:effectLst/>
                <a:latin typeface="Google Sans"/>
              </a:rPr>
              <a:t>: Verifies that the HTTP status code of the response is 200 (OK</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96271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7E845-3357-81A5-4117-983A9D828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49B937-F693-3D88-13D2-0A7364877EF6}"/>
              </a:ext>
            </a:extLst>
          </p:cNvPr>
          <p:cNvSpPr>
            <a:spLocks noGrp="1"/>
          </p:cNvSpPr>
          <p:nvPr>
            <p:ph type="title"/>
          </p:nvPr>
        </p:nvSpPr>
        <p:spPr>
          <a:xfrm>
            <a:off x="78658" y="107650"/>
            <a:ext cx="7694818" cy="1325563"/>
          </a:xfrm>
        </p:spPr>
        <p:txBody>
          <a:bodyPr>
            <a:normAutofit/>
          </a:bodyPr>
          <a:lstStyle/>
          <a:p>
            <a:r>
              <a:rPr lang="en-US" sz="5400" b="1" dirty="0">
                <a:latin typeface="+mn-lt"/>
              </a:rPr>
              <a:t>API Request</a:t>
            </a:r>
          </a:p>
        </p:txBody>
      </p:sp>
      <p:sp>
        <p:nvSpPr>
          <p:cNvPr id="3" name="Content Placeholder 2">
            <a:extLst>
              <a:ext uri="{FF2B5EF4-FFF2-40B4-BE49-F238E27FC236}">
                <a16:creationId xmlns:a16="http://schemas.microsoft.com/office/drawing/2014/main" id="{7F8B0164-C6FA-D309-2906-7BFC47A28BA4}"/>
              </a:ext>
            </a:extLst>
          </p:cNvPr>
          <p:cNvSpPr>
            <a:spLocks noGrp="1"/>
          </p:cNvSpPr>
          <p:nvPr>
            <p:ph idx="1"/>
          </p:nvPr>
        </p:nvSpPr>
        <p:spPr>
          <a:xfrm>
            <a:off x="148022" y="1674461"/>
            <a:ext cx="8071746" cy="3094184"/>
          </a:xfrm>
        </p:spPr>
        <p:txBody>
          <a:bodyPr>
            <a:normAutofit/>
          </a:bodyPr>
          <a:lstStyle/>
          <a:p>
            <a:pPr>
              <a:lnSpc>
                <a:spcPct val="100000"/>
              </a:lnSpc>
              <a:spcBef>
                <a:spcPts val="0"/>
              </a:spcBef>
              <a:buFont typeface="Calibri" panose="020F0502020204030204" pitchFamily="34" charset="0"/>
              <a:buChar char="⁻"/>
            </a:pPr>
            <a:r>
              <a:rPr lang="en-US" dirty="0"/>
              <a:t>Authorization</a:t>
            </a:r>
          </a:p>
          <a:p>
            <a:pPr>
              <a:lnSpc>
                <a:spcPct val="100000"/>
              </a:lnSpc>
              <a:spcBef>
                <a:spcPts val="0"/>
              </a:spcBef>
              <a:buFont typeface="Calibri" panose="020F0502020204030204" pitchFamily="34" charset="0"/>
              <a:buChar char="⁻"/>
            </a:pPr>
            <a:r>
              <a:rPr lang="en-US" dirty="0"/>
              <a:t>Path Parameter (Optional)</a:t>
            </a:r>
          </a:p>
          <a:p>
            <a:pPr>
              <a:lnSpc>
                <a:spcPct val="100000"/>
              </a:lnSpc>
              <a:spcBef>
                <a:spcPts val="0"/>
              </a:spcBef>
              <a:buFont typeface="Calibri" panose="020F0502020204030204" pitchFamily="34" charset="0"/>
              <a:buChar char="⁻"/>
            </a:pPr>
            <a:r>
              <a:rPr lang="en-US" dirty="0"/>
              <a:t>Accept Header (Optional)</a:t>
            </a:r>
          </a:p>
          <a:p>
            <a:pPr>
              <a:lnSpc>
                <a:spcPct val="100000"/>
              </a:lnSpc>
              <a:spcBef>
                <a:spcPts val="0"/>
              </a:spcBef>
              <a:buFont typeface="Calibri" panose="020F0502020204030204" pitchFamily="34" charset="0"/>
              <a:buChar char="⁻"/>
            </a:pPr>
            <a:r>
              <a:rPr lang="en-US" dirty="0"/>
              <a:t>Request Body</a:t>
            </a:r>
          </a:p>
        </p:txBody>
      </p:sp>
    </p:spTree>
    <p:extLst>
      <p:ext uri="{BB962C8B-B14F-4D97-AF65-F5344CB8AC3E}">
        <p14:creationId xmlns:p14="http://schemas.microsoft.com/office/powerpoint/2010/main" val="2875060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51E2D"/>
            </a:gs>
            <a:gs pos="34000">
              <a:srgbClr val="273852"/>
            </a:gs>
            <a:gs pos="64000">
              <a:srgbClr val="273852"/>
            </a:gs>
            <a:gs pos="100000">
              <a:srgbClr val="151E2D"/>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701C7-94E3-D57F-3F01-A2A0333517AF}"/>
              </a:ext>
            </a:extLst>
          </p:cNvPr>
          <p:cNvSpPr>
            <a:spLocks noGrp="1"/>
          </p:cNvSpPr>
          <p:nvPr>
            <p:ph type="title"/>
          </p:nvPr>
        </p:nvSpPr>
        <p:spPr>
          <a:xfrm>
            <a:off x="401216" y="690466"/>
            <a:ext cx="8842397" cy="1496520"/>
          </a:xfrm>
        </p:spPr>
        <p:txBody>
          <a:bodyPr>
            <a:normAutofit/>
          </a:bodyPr>
          <a:lstStyle/>
          <a:p>
            <a:r>
              <a:rPr lang="en-US" sz="5400" b="1" dirty="0">
                <a:latin typeface="+mn-lt"/>
              </a:rPr>
              <a:t>Post: Create A new Record</a:t>
            </a:r>
          </a:p>
        </p:txBody>
      </p:sp>
      <p:graphicFrame>
        <p:nvGraphicFramePr>
          <p:cNvPr id="6" name="Content Placeholder 5">
            <a:extLst>
              <a:ext uri="{FF2B5EF4-FFF2-40B4-BE49-F238E27FC236}">
                <a16:creationId xmlns:a16="http://schemas.microsoft.com/office/drawing/2014/main" id="{5EE7EA7D-4492-79A5-7F84-C55D4E680285}"/>
              </a:ext>
            </a:extLst>
          </p:cNvPr>
          <p:cNvGraphicFramePr>
            <a:graphicFrameLocks noGrp="1"/>
          </p:cNvGraphicFramePr>
          <p:nvPr>
            <p:ph idx="1"/>
            <p:extLst>
              <p:ext uri="{D42A27DB-BD31-4B8C-83A1-F6EECF244321}">
                <p14:modId xmlns:p14="http://schemas.microsoft.com/office/powerpoint/2010/main" val="1310106665"/>
              </p:ext>
            </p:extLst>
          </p:nvPr>
        </p:nvGraphicFramePr>
        <p:xfrm>
          <a:off x="537330" y="2405431"/>
          <a:ext cx="7990849" cy="3551230"/>
        </p:xfrm>
        <a:graphic>
          <a:graphicData uri="http://schemas.openxmlformats.org/drawingml/2006/table">
            <a:tbl>
              <a:tblPr firstRow="1" bandRow="1">
                <a:tableStyleId>{2D5ABB26-0587-4C30-8999-92F81FD0307C}</a:tableStyleId>
              </a:tblPr>
              <a:tblGrid>
                <a:gridCol w="1752695">
                  <a:extLst>
                    <a:ext uri="{9D8B030D-6E8A-4147-A177-3AD203B41FA5}">
                      <a16:colId xmlns:a16="http://schemas.microsoft.com/office/drawing/2014/main" val="2515436062"/>
                    </a:ext>
                  </a:extLst>
                </a:gridCol>
                <a:gridCol w="6238154">
                  <a:extLst>
                    <a:ext uri="{9D8B030D-6E8A-4147-A177-3AD203B41FA5}">
                      <a16:colId xmlns:a16="http://schemas.microsoft.com/office/drawing/2014/main" val="1972920099"/>
                    </a:ext>
                  </a:extLst>
                </a:gridCol>
              </a:tblGrid>
              <a:tr h="472502">
                <a:tc>
                  <a:txBody>
                    <a:bodyPr/>
                    <a:lstStyle/>
                    <a:p>
                      <a:r>
                        <a:rPr lang="en-US" dirty="0"/>
                        <a:t>URL</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https://dev214352.service-now.com/api/now/table/{tableName}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3729015"/>
                  </a:ext>
                </a:extLst>
              </a:tr>
              <a:tr h="472502">
                <a:tc>
                  <a:txBody>
                    <a:bodyPr/>
                    <a:lstStyle/>
                    <a:p>
                      <a:r>
                        <a:rPr lang="en-US" dirty="0"/>
                        <a:t>HTTP Method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GET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1540454"/>
                  </a:ext>
                </a:extLst>
              </a:tr>
              <a:tr h="472502">
                <a:tc>
                  <a:txBody>
                    <a:bodyPr/>
                    <a:lstStyle/>
                    <a:p>
                      <a:r>
                        <a:rPr lang="en-US" dirty="0"/>
                        <a:t>Path Parameter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tableName=incident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9847060"/>
                  </a:ext>
                </a:extLst>
              </a:tr>
              <a:tr h="472502">
                <a:tc>
                  <a:txBody>
                    <a:bodyPr/>
                    <a:lstStyle/>
                    <a:p>
                      <a:r>
                        <a:rPr lang="en-US" dirty="0"/>
                        <a:t>Header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ACCEPT: application/json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2500326"/>
                  </a:ext>
                </a:extLst>
              </a:tr>
              <a:tr h="472502">
                <a:tc>
                  <a:txBody>
                    <a:bodyPr/>
                    <a:lstStyle/>
                    <a:p>
                      <a:r>
                        <a:rPr lang="en-US" dirty="0"/>
                        <a:t>Authentication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dirty="0"/>
                        <a:t>username=admin, password=dLS9Qgs=V!0n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2570589"/>
                  </a:ext>
                </a:extLst>
              </a:tr>
              <a:tr h="472502">
                <a:tc>
                  <a:txBody>
                    <a:bodyPr/>
                    <a:lstStyle/>
                    <a:p>
                      <a:r>
                        <a:rPr lang="en-US" dirty="0"/>
                        <a:t>Request Body</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p>
                      <a:r>
                        <a:rPr lang="en-US" dirty="0"/>
                        <a:t>   “description”: “Create a new record using POST method,</a:t>
                      </a:r>
                    </a:p>
                    <a:p>
                      <a:r>
                        <a:rPr lang="en-US" dirty="0"/>
                        <a:t>   “short_description”: “RESTAPISEP2025”</a:t>
                      </a:r>
                    </a:p>
                    <a:p>
                      <a:r>
                        <a:rPr lang="en-US" dirty="0"/>
                        <a: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5973905"/>
                  </a:ext>
                </a:extLst>
              </a:tr>
            </a:tbl>
          </a:graphicData>
        </a:graphic>
      </p:graphicFrame>
    </p:spTree>
    <p:extLst>
      <p:ext uri="{BB962C8B-B14F-4D97-AF65-F5344CB8AC3E}">
        <p14:creationId xmlns:p14="http://schemas.microsoft.com/office/powerpoint/2010/main" val="404346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D8082-8226-DC3E-DD37-D76D966788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89522C-5EC4-D41E-A347-80D0BA43ED14}"/>
              </a:ext>
            </a:extLst>
          </p:cNvPr>
          <p:cNvSpPr>
            <a:spLocks noGrp="1"/>
          </p:cNvSpPr>
          <p:nvPr>
            <p:ph type="title"/>
          </p:nvPr>
        </p:nvSpPr>
        <p:spPr>
          <a:xfrm>
            <a:off x="117987" y="166643"/>
            <a:ext cx="7694818" cy="1325563"/>
          </a:xfrm>
        </p:spPr>
        <p:txBody>
          <a:bodyPr>
            <a:normAutofit/>
          </a:bodyPr>
          <a:lstStyle/>
          <a:p>
            <a:r>
              <a:rPr lang="en-US" sz="5400" b="1" dirty="0">
                <a:latin typeface="+mn-lt"/>
              </a:rPr>
              <a:t>API Response</a:t>
            </a:r>
          </a:p>
        </p:txBody>
      </p:sp>
      <p:sp>
        <p:nvSpPr>
          <p:cNvPr id="3" name="Content Placeholder 2">
            <a:extLst>
              <a:ext uri="{FF2B5EF4-FFF2-40B4-BE49-F238E27FC236}">
                <a16:creationId xmlns:a16="http://schemas.microsoft.com/office/drawing/2014/main" id="{D64F6D30-D6A1-9444-3664-83E4BC6318EF}"/>
              </a:ext>
            </a:extLst>
          </p:cNvPr>
          <p:cNvSpPr>
            <a:spLocks noGrp="1"/>
          </p:cNvSpPr>
          <p:nvPr>
            <p:ph idx="1"/>
          </p:nvPr>
        </p:nvSpPr>
        <p:spPr>
          <a:xfrm>
            <a:off x="275841" y="1733455"/>
            <a:ext cx="7536964" cy="3241668"/>
          </a:xfrm>
        </p:spPr>
        <p:txBody>
          <a:bodyPr>
            <a:normAutofit/>
          </a:bodyPr>
          <a:lstStyle/>
          <a:p>
            <a:pPr>
              <a:lnSpc>
                <a:spcPct val="100000"/>
              </a:lnSpc>
              <a:spcBef>
                <a:spcPts val="0"/>
              </a:spcBef>
              <a:buFont typeface="Calibri" panose="020F0502020204030204" pitchFamily="34" charset="0"/>
              <a:buChar char="⁻"/>
            </a:pPr>
            <a:r>
              <a:rPr lang="en-US" dirty="0"/>
              <a:t>HTTP Status Code</a:t>
            </a:r>
          </a:p>
          <a:p>
            <a:pPr>
              <a:lnSpc>
                <a:spcPct val="100000"/>
              </a:lnSpc>
              <a:spcBef>
                <a:spcPts val="0"/>
              </a:spcBef>
              <a:buFont typeface="Calibri" panose="020F0502020204030204" pitchFamily="34" charset="0"/>
              <a:buChar char="⁻"/>
            </a:pPr>
            <a:r>
              <a:rPr lang="en-US" dirty="0"/>
              <a:t>HTTP Status Name</a:t>
            </a:r>
          </a:p>
          <a:p>
            <a:pPr>
              <a:lnSpc>
                <a:spcPct val="100000"/>
              </a:lnSpc>
              <a:spcBef>
                <a:spcPts val="0"/>
              </a:spcBef>
              <a:buFont typeface="Calibri" panose="020F0502020204030204" pitchFamily="34" charset="0"/>
              <a:buChar char="⁻"/>
            </a:pPr>
            <a:r>
              <a:rPr lang="en-US" dirty="0"/>
              <a:t>Header</a:t>
            </a:r>
          </a:p>
          <a:p>
            <a:pPr>
              <a:lnSpc>
                <a:spcPct val="100000"/>
              </a:lnSpc>
              <a:spcBef>
                <a:spcPts val="0"/>
              </a:spcBef>
              <a:buFont typeface="Calibri" panose="020F0502020204030204" pitchFamily="34" charset="0"/>
              <a:buChar char="⁻"/>
            </a:pPr>
            <a:r>
              <a:rPr lang="en-US" dirty="0"/>
              <a:t>Response Body</a:t>
            </a:r>
          </a:p>
        </p:txBody>
      </p:sp>
    </p:spTree>
    <p:extLst>
      <p:ext uri="{BB962C8B-B14F-4D97-AF65-F5344CB8AC3E}">
        <p14:creationId xmlns:p14="http://schemas.microsoft.com/office/powerpoint/2010/main" val="2215924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51E2D"/>
            </a:gs>
            <a:gs pos="34000">
              <a:srgbClr val="273852"/>
            </a:gs>
            <a:gs pos="64000">
              <a:srgbClr val="273852"/>
            </a:gs>
            <a:gs pos="100000">
              <a:srgbClr val="151E2D"/>
            </a:gs>
          </a:gsLst>
          <a:lin ang="5400000" scaled="1"/>
          <a:tileRect/>
        </a:gradFill>
        <a:effectLst/>
      </p:bgPr>
    </p:bg>
    <p:spTree>
      <p:nvGrpSpPr>
        <p:cNvPr id="1" name="">
          <a:extLst>
            <a:ext uri="{FF2B5EF4-FFF2-40B4-BE49-F238E27FC236}">
              <a16:creationId xmlns:a16="http://schemas.microsoft.com/office/drawing/2014/main" id="{D931A977-3170-FF5B-4C28-119D9651A5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28B428-D4BB-0D09-28A7-A294BD01A577}"/>
              </a:ext>
            </a:extLst>
          </p:cNvPr>
          <p:cNvSpPr>
            <a:spLocks noGrp="1"/>
          </p:cNvSpPr>
          <p:nvPr>
            <p:ph type="title"/>
          </p:nvPr>
        </p:nvSpPr>
        <p:spPr>
          <a:xfrm>
            <a:off x="401216" y="690466"/>
            <a:ext cx="8842397" cy="1496520"/>
          </a:xfrm>
        </p:spPr>
        <p:txBody>
          <a:bodyPr>
            <a:normAutofit/>
          </a:bodyPr>
          <a:lstStyle/>
          <a:p>
            <a:r>
              <a:rPr lang="en-US" sz="5400" b="1" dirty="0"/>
              <a:t>Post: Create A new Record</a:t>
            </a:r>
            <a:endParaRPr lang="en-US" sz="5400" b="1" dirty="0">
              <a:latin typeface="+mn-lt"/>
            </a:endParaRPr>
          </a:p>
        </p:txBody>
      </p:sp>
      <p:graphicFrame>
        <p:nvGraphicFramePr>
          <p:cNvPr id="6" name="Content Placeholder 5">
            <a:extLst>
              <a:ext uri="{FF2B5EF4-FFF2-40B4-BE49-F238E27FC236}">
                <a16:creationId xmlns:a16="http://schemas.microsoft.com/office/drawing/2014/main" id="{CFA8C1D2-7801-A18F-2F3C-3306F2473E08}"/>
              </a:ext>
            </a:extLst>
          </p:cNvPr>
          <p:cNvGraphicFramePr>
            <a:graphicFrameLocks noGrp="1"/>
          </p:cNvGraphicFramePr>
          <p:nvPr>
            <p:ph idx="1"/>
            <p:extLst>
              <p:ext uri="{D42A27DB-BD31-4B8C-83A1-F6EECF244321}">
                <p14:modId xmlns:p14="http://schemas.microsoft.com/office/powerpoint/2010/main" val="1536686587"/>
              </p:ext>
            </p:extLst>
          </p:nvPr>
        </p:nvGraphicFramePr>
        <p:xfrm>
          <a:off x="537330" y="2405431"/>
          <a:ext cx="7990849" cy="2331906"/>
        </p:xfrm>
        <a:graphic>
          <a:graphicData uri="http://schemas.openxmlformats.org/drawingml/2006/table">
            <a:tbl>
              <a:tblPr firstRow="1" bandRow="1">
                <a:tableStyleId>{2D5ABB26-0587-4C30-8999-92F81FD0307C}</a:tableStyleId>
              </a:tblPr>
              <a:tblGrid>
                <a:gridCol w="2327168">
                  <a:extLst>
                    <a:ext uri="{9D8B030D-6E8A-4147-A177-3AD203B41FA5}">
                      <a16:colId xmlns:a16="http://schemas.microsoft.com/office/drawing/2014/main" val="2515436062"/>
                    </a:ext>
                  </a:extLst>
                </a:gridCol>
                <a:gridCol w="5663681">
                  <a:extLst>
                    <a:ext uri="{9D8B030D-6E8A-4147-A177-3AD203B41FA5}">
                      <a16:colId xmlns:a16="http://schemas.microsoft.com/office/drawing/2014/main" val="1972920099"/>
                    </a:ext>
                  </a:extLst>
                </a:gridCol>
              </a:tblGrid>
              <a:tr h="472502">
                <a:tc>
                  <a:txBody>
                    <a:bodyPr/>
                    <a:lstStyle/>
                    <a:p>
                      <a:r>
                        <a:rPr lang="en-US" dirty="0"/>
                        <a:t>HTTP Status Code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3729015"/>
                  </a:ext>
                </a:extLst>
              </a:tr>
              <a:tr h="472502">
                <a:tc>
                  <a:txBody>
                    <a:bodyPr/>
                    <a:lstStyle/>
                    <a:p>
                      <a:r>
                        <a:rPr lang="en-US" dirty="0"/>
                        <a:t>HTTP Status Name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Created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1540454"/>
                  </a:ext>
                </a:extLst>
              </a:tr>
              <a:tr h="472502">
                <a:tc>
                  <a:txBody>
                    <a:bodyPr/>
                    <a:lstStyle/>
                    <a:p>
                      <a:r>
                        <a:rPr lang="en-US" dirty="0"/>
                        <a:t>Header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Content-Type: application/json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9847060"/>
                  </a:ext>
                </a:extLst>
              </a:tr>
              <a:tr h="472502">
                <a:tc>
                  <a:txBody>
                    <a:bodyPr/>
                    <a:lstStyle/>
                    <a:p>
                      <a:r>
                        <a:rPr lang="en-US" dirty="0"/>
                        <a:t>Response Body</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Sends a newly created record in the incident table in a JSON format, with same value as mentioned in the request payload.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2500326"/>
                  </a:ext>
                </a:extLst>
              </a:tr>
            </a:tbl>
          </a:graphicData>
        </a:graphic>
      </p:graphicFrame>
    </p:spTree>
    <p:extLst>
      <p:ext uri="{BB962C8B-B14F-4D97-AF65-F5344CB8AC3E}">
        <p14:creationId xmlns:p14="http://schemas.microsoft.com/office/powerpoint/2010/main" val="1082839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8328B-169D-0DC9-F26B-EF2A29E5D8D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645C474-C638-F3F5-E4CF-7C0A7EE4529A}"/>
              </a:ext>
            </a:extLst>
          </p:cNvPr>
          <p:cNvSpPr txBox="1"/>
          <p:nvPr/>
        </p:nvSpPr>
        <p:spPr>
          <a:xfrm>
            <a:off x="5640355" y="2971800"/>
            <a:ext cx="914400" cy="914400"/>
          </a:xfrm>
          <a:prstGeom prst="rect">
            <a:avLst/>
          </a:prstGeom>
          <a:noFill/>
        </p:spPr>
        <p:txBody>
          <a:bodyPr wrap="square" rtlCol="0">
            <a:spAutoFit/>
          </a:bodyPr>
          <a:lstStyle/>
          <a:p>
            <a:endParaRPr lang="en-IN" dirty="0"/>
          </a:p>
        </p:txBody>
      </p:sp>
      <p:sp>
        <p:nvSpPr>
          <p:cNvPr id="3" name="TextBox 2">
            <a:extLst>
              <a:ext uri="{FF2B5EF4-FFF2-40B4-BE49-F238E27FC236}">
                <a16:creationId xmlns:a16="http://schemas.microsoft.com/office/drawing/2014/main" id="{4FD798E5-522B-1450-9671-475CB25C4356}"/>
              </a:ext>
            </a:extLst>
          </p:cNvPr>
          <p:cNvSpPr txBox="1"/>
          <p:nvPr/>
        </p:nvSpPr>
        <p:spPr>
          <a:xfrm>
            <a:off x="207606" y="0"/>
            <a:ext cx="10865498" cy="6740307"/>
          </a:xfrm>
          <a:prstGeom prst="rect">
            <a:avLst/>
          </a:prstGeom>
          <a:noFill/>
        </p:spPr>
        <p:txBody>
          <a:bodyPr wrap="square" rtlCol="0">
            <a:spAutoFit/>
          </a:bodyPr>
          <a:lstStyle/>
          <a:p>
            <a:r>
              <a:rPr lang="en-IN" dirty="0"/>
              <a:t>RestAssured.given()</a:t>
            </a:r>
          </a:p>
          <a:p>
            <a:r>
              <a:rPr lang="en-IN" dirty="0"/>
              <a:t>             </a:t>
            </a:r>
            <a:r>
              <a:rPr lang="en-IN" dirty="0">
                <a:solidFill>
                  <a:srgbClr val="FFFF00"/>
                </a:solidFill>
              </a:rPr>
              <a:t>// To define the base Uniform Resource Identifier (URI)</a:t>
            </a:r>
          </a:p>
          <a:p>
            <a:r>
              <a:rPr lang="en-IN" dirty="0"/>
              <a:t>            .baseUri("https://dev214352.service-now.com")</a:t>
            </a:r>
          </a:p>
          <a:p>
            <a:r>
              <a:rPr lang="en-IN" dirty="0"/>
              <a:t>             </a:t>
            </a:r>
            <a:r>
              <a:rPr lang="en-IN" dirty="0">
                <a:solidFill>
                  <a:srgbClr val="FFFF00"/>
                </a:solidFill>
              </a:rPr>
              <a:t>// </a:t>
            </a:r>
            <a:r>
              <a:rPr lang="en-US" dirty="0">
                <a:solidFill>
                  <a:srgbClr val="FFFF00"/>
                </a:solidFill>
              </a:rPr>
              <a:t>To define a common path segment that will be prepended to the path of all subsequent requests</a:t>
            </a:r>
            <a:endParaRPr lang="en-IN" dirty="0">
              <a:solidFill>
                <a:srgbClr val="FFFF00"/>
              </a:solidFill>
            </a:endParaRPr>
          </a:p>
          <a:p>
            <a:r>
              <a:rPr lang="en-IN" dirty="0"/>
              <a:t>            .basePath("/api/now/table")</a:t>
            </a:r>
          </a:p>
          <a:p>
            <a:r>
              <a:rPr lang="en-IN" dirty="0"/>
              <a:t>             </a:t>
            </a:r>
            <a:r>
              <a:rPr lang="en-IN" dirty="0">
                <a:solidFill>
                  <a:srgbClr val="FFFF00"/>
                </a:solidFill>
              </a:rPr>
              <a:t>// Request header for </a:t>
            </a:r>
            <a:r>
              <a:rPr lang="en-US" dirty="0">
                <a:solidFill>
                  <a:srgbClr val="FFFF00"/>
                </a:solidFill>
              </a:rPr>
              <a:t>specifying the type of content that can be accepted in a response</a:t>
            </a:r>
            <a:endParaRPr lang="en-IN" dirty="0">
              <a:solidFill>
                <a:srgbClr val="FFFF00"/>
              </a:solidFill>
            </a:endParaRPr>
          </a:p>
          <a:p>
            <a:r>
              <a:rPr lang="en-IN" dirty="0"/>
              <a:t>            .header("Accept", "application/json")</a:t>
            </a:r>
          </a:p>
          <a:p>
            <a:r>
              <a:rPr lang="en-IN" dirty="0"/>
              <a:t>             </a:t>
            </a:r>
            <a:r>
              <a:rPr lang="en-IN" dirty="0">
                <a:solidFill>
                  <a:srgbClr val="FFFF00"/>
                </a:solidFill>
              </a:rPr>
              <a:t>// To set the Path parameter which mentioned in the path of the endpoint</a:t>
            </a:r>
          </a:p>
          <a:p>
            <a:r>
              <a:rPr lang="en-IN" dirty="0"/>
              <a:t>            .pathParam("tableName", " incident")</a:t>
            </a:r>
          </a:p>
          <a:p>
            <a:r>
              <a:rPr lang="en-IN" dirty="0"/>
              <a:t>            .when()</a:t>
            </a:r>
          </a:p>
          <a:p>
            <a:r>
              <a:rPr lang="en-IN" dirty="0"/>
              <a:t>             </a:t>
            </a:r>
            <a:r>
              <a:rPr lang="en-IN" dirty="0">
                <a:solidFill>
                  <a:srgbClr val="FFFF00"/>
                </a:solidFill>
              </a:rPr>
              <a:t>// T</a:t>
            </a:r>
            <a:r>
              <a:rPr lang="en-US" dirty="0">
                <a:solidFill>
                  <a:srgbClr val="FFFF00"/>
                </a:solidFill>
              </a:rPr>
              <a:t>he request body that will be sent with an HTTP request, typically for methods like POST, PUT, or PATCH</a:t>
            </a:r>
            <a:endParaRPr lang="en-IN" dirty="0">
              <a:solidFill>
                <a:srgbClr val="FFFF00"/>
              </a:solidFill>
            </a:endParaRPr>
          </a:p>
          <a:p>
            <a:r>
              <a:rPr lang="en-IN" dirty="0"/>
              <a:t>            .body(“””</a:t>
            </a:r>
          </a:p>
          <a:p>
            <a:r>
              <a:rPr lang="en-IN" dirty="0"/>
              <a:t>                          </a:t>
            </a:r>
            <a:r>
              <a:rPr lang="en-US" dirty="0"/>
              <a:t>{</a:t>
            </a:r>
          </a:p>
          <a:p>
            <a:r>
              <a:rPr lang="en-US" dirty="0"/>
              <a:t>                             “description”: “Create a new record using POST method,</a:t>
            </a:r>
          </a:p>
          <a:p>
            <a:r>
              <a:rPr lang="en-US" dirty="0"/>
              <a:t>                             “short_description”: “RESTAPISEP2025”</a:t>
            </a:r>
          </a:p>
          <a:p>
            <a:r>
              <a:rPr lang="en-US" dirty="0"/>
              <a:t>                          }</a:t>
            </a:r>
          </a:p>
          <a:p>
            <a:r>
              <a:rPr lang="en-US" dirty="0"/>
              <a:t>                        ””</a:t>
            </a:r>
            <a:r>
              <a:rPr lang="en-IN" dirty="0"/>
              <a:t>”)</a:t>
            </a:r>
          </a:p>
          <a:p>
            <a:r>
              <a:rPr lang="en-IN" dirty="0"/>
              <a:t>             </a:t>
            </a:r>
            <a:r>
              <a:rPr lang="en-IN" dirty="0">
                <a:solidFill>
                  <a:srgbClr val="FFFF00"/>
                </a:solidFill>
              </a:rPr>
              <a:t>// Endpoint for fetching all incident records</a:t>
            </a:r>
            <a:r>
              <a:rPr lang="en-IN" dirty="0"/>
              <a:t> </a:t>
            </a:r>
          </a:p>
          <a:p>
            <a:r>
              <a:rPr lang="en-IN" dirty="0"/>
              <a:t>            .post("/{tableName}")</a:t>
            </a:r>
          </a:p>
          <a:p>
            <a:r>
              <a:rPr lang="en-IN" dirty="0"/>
              <a:t>            .then()</a:t>
            </a:r>
          </a:p>
          <a:p>
            <a:r>
              <a:rPr lang="en-IN" dirty="0"/>
              <a:t>            .assertThat()</a:t>
            </a:r>
          </a:p>
          <a:p>
            <a:r>
              <a:rPr lang="en-IN" dirty="0"/>
              <a:t>             </a:t>
            </a:r>
            <a:r>
              <a:rPr lang="en-IN" dirty="0">
                <a:solidFill>
                  <a:srgbClr val="FFFF00"/>
                </a:solidFill>
              </a:rPr>
              <a:t>// Assert response status code</a:t>
            </a:r>
          </a:p>
          <a:p>
            <a:r>
              <a:rPr lang="en-IN" dirty="0"/>
              <a:t>            . statusCode(Matchers.</a:t>
            </a:r>
            <a:r>
              <a:rPr lang="en-IN" i="1" dirty="0"/>
              <a:t>equalTo</a:t>
            </a:r>
            <a:r>
              <a:rPr lang="en-IN" dirty="0"/>
              <a:t>(201))</a:t>
            </a:r>
          </a:p>
          <a:p>
            <a:r>
              <a:rPr lang="en-IN" dirty="0"/>
              <a:t>            .statusLine(Matchers.containsString(“Created”)); </a:t>
            </a:r>
            <a:r>
              <a:rPr lang="en-IN" dirty="0">
                <a:solidFill>
                  <a:srgbClr val="FFFF00"/>
                </a:solidFill>
              </a:rPr>
              <a:t>// Assert response status name</a:t>
            </a:r>
          </a:p>
        </p:txBody>
      </p:sp>
    </p:spTree>
    <p:extLst>
      <p:ext uri="{BB962C8B-B14F-4D97-AF65-F5344CB8AC3E}">
        <p14:creationId xmlns:p14="http://schemas.microsoft.com/office/powerpoint/2010/main" val="1650136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28E5-BB37-18A4-4F3F-0B58FF713E18}"/>
              </a:ext>
            </a:extLst>
          </p:cNvPr>
          <p:cNvSpPr txBox="1">
            <a:spLocks/>
          </p:cNvSpPr>
          <p:nvPr/>
        </p:nvSpPr>
        <p:spPr>
          <a:xfrm>
            <a:off x="102637" y="420777"/>
            <a:ext cx="6680718" cy="978815"/>
          </a:xfrm>
          <a:prstGeom prst="rect">
            <a:avLst/>
          </a:prstGeom>
        </p:spPr>
        <p:txBody>
          <a:bodyP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5400" b="1" dirty="0">
                <a:latin typeface="+mn-lt"/>
              </a:rPr>
              <a:t>Hamcrest Matches</a:t>
            </a:r>
          </a:p>
        </p:txBody>
      </p:sp>
      <p:sp>
        <p:nvSpPr>
          <p:cNvPr id="3" name="Content Placeholder 2">
            <a:extLst>
              <a:ext uri="{FF2B5EF4-FFF2-40B4-BE49-F238E27FC236}">
                <a16:creationId xmlns:a16="http://schemas.microsoft.com/office/drawing/2014/main" id="{B131FD18-14CA-A68F-0B47-1D2DC07B0C2C}"/>
              </a:ext>
            </a:extLst>
          </p:cNvPr>
          <p:cNvSpPr txBox="1">
            <a:spLocks/>
          </p:cNvSpPr>
          <p:nvPr/>
        </p:nvSpPr>
        <p:spPr>
          <a:xfrm>
            <a:off x="102637" y="1307607"/>
            <a:ext cx="11109488" cy="4719567"/>
          </a:xfrm>
          <a:prstGeom prst="rect">
            <a:avLst/>
          </a:prstGeom>
        </p:spPr>
        <p:txBody>
          <a:bodyPr>
            <a:normAutofit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algn="just">
              <a:lnSpc>
                <a:spcPct val="150000"/>
              </a:lnSpc>
              <a:buFont typeface="Wingdings" panose="05000000000000000000" pitchFamily="2" charset="2"/>
              <a:buChar char="Ø"/>
            </a:pPr>
            <a:r>
              <a:rPr lang="en-IN" sz="1900" dirty="0">
                <a:solidFill>
                  <a:schemeClr val="accent5">
                    <a:lumMod val="40000"/>
                    <a:lumOff val="60000"/>
                  </a:schemeClr>
                </a:solidFill>
              </a:rPr>
              <a:t>statusCode(Matchers.</a:t>
            </a:r>
            <a:r>
              <a:rPr lang="en-IN" sz="1900" i="1" dirty="0">
                <a:solidFill>
                  <a:schemeClr val="accent5">
                    <a:lumMod val="40000"/>
                    <a:lumOff val="60000"/>
                  </a:schemeClr>
                </a:solidFill>
              </a:rPr>
              <a:t>equalTo</a:t>
            </a:r>
            <a:r>
              <a:rPr lang="en-IN" sz="1900" dirty="0">
                <a:solidFill>
                  <a:schemeClr val="accent5">
                    <a:lumMod val="40000"/>
                    <a:lumOff val="60000"/>
                  </a:schemeClr>
                </a:solidFill>
              </a:rPr>
              <a:t>(201))</a:t>
            </a:r>
            <a:endParaRPr lang="en-US" sz="1900" dirty="0">
              <a:solidFill>
                <a:schemeClr val="accent5">
                  <a:lumMod val="40000"/>
                  <a:lumOff val="60000"/>
                </a:schemeClr>
              </a:solidFill>
            </a:endParaRPr>
          </a:p>
          <a:p>
            <a:pPr lvl="1" algn="just">
              <a:lnSpc>
                <a:spcPct val="150000"/>
              </a:lnSpc>
              <a:buFont typeface="Wingdings" panose="05000000000000000000" pitchFamily="2" charset="2"/>
              <a:buChar char="Ø"/>
            </a:pPr>
            <a:r>
              <a:rPr lang="en-US" sz="1900" dirty="0"/>
              <a:t>Creates a matcher that matches when the examined object is logically equal to the specified </a:t>
            </a:r>
            <a:r>
              <a:rPr lang="en-US" sz="1900" i="1" dirty="0"/>
              <a:t>operand</a:t>
            </a:r>
            <a:r>
              <a:rPr lang="en-US" sz="1900" dirty="0"/>
              <a:t>, as determined by calling the Object.equals(java.lang.Object) method on the examined object.</a:t>
            </a:r>
          </a:p>
          <a:p>
            <a:pPr lvl="1" algn="just">
              <a:lnSpc>
                <a:spcPct val="150000"/>
              </a:lnSpc>
              <a:buFont typeface="Wingdings" panose="05000000000000000000" pitchFamily="2" charset="2"/>
              <a:buChar char="Ø"/>
            </a:pPr>
            <a:r>
              <a:rPr lang="en-IN" sz="1900" dirty="0">
                <a:solidFill>
                  <a:schemeClr val="accent5">
                    <a:lumMod val="40000"/>
                    <a:lumOff val="60000"/>
                  </a:schemeClr>
                </a:solidFill>
              </a:rPr>
              <a:t>statusCode(Matchers.</a:t>
            </a:r>
            <a:r>
              <a:rPr lang="en-IN" sz="1900" i="1" dirty="0">
                <a:solidFill>
                  <a:schemeClr val="accent5">
                    <a:lumMod val="40000"/>
                    <a:lumOff val="60000"/>
                  </a:schemeClr>
                </a:solidFill>
              </a:rPr>
              <a:t>equalTo</a:t>
            </a:r>
            <a:r>
              <a:rPr lang="en-IN" sz="1900" dirty="0">
                <a:solidFill>
                  <a:schemeClr val="accent5">
                    <a:lumMod val="40000"/>
                    <a:lumOff val="60000"/>
                  </a:schemeClr>
                </a:solidFill>
              </a:rPr>
              <a:t>(201))</a:t>
            </a:r>
            <a:r>
              <a:rPr lang="en-US" sz="1900" dirty="0">
                <a:solidFill>
                  <a:schemeClr val="accent5">
                    <a:lumMod val="40000"/>
                    <a:lumOff val="60000"/>
                  </a:schemeClr>
                </a:solidFill>
              </a:rPr>
              <a:t> == statusCode(201)</a:t>
            </a:r>
          </a:p>
          <a:p>
            <a:pPr algn="just">
              <a:lnSpc>
                <a:spcPct val="150000"/>
              </a:lnSpc>
              <a:buFont typeface="Wingdings" panose="05000000000000000000" pitchFamily="2" charset="2"/>
              <a:buChar char="Ø"/>
            </a:pPr>
            <a:r>
              <a:rPr lang="en-IN" sz="1900" dirty="0">
                <a:solidFill>
                  <a:schemeClr val="accent5">
                    <a:lumMod val="40000"/>
                    <a:lumOff val="60000"/>
                  </a:schemeClr>
                </a:solidFill>
              </a:rPr>
              <a:t>statusLine(Matchers.</a:t>
            </a:r>
            <a:r>
              <a:rPr lang="en-IN" sz="1900" i="1" dirty="0">
                <a:solidFill>
                  <a:schemeClr val="accent5">
                    <a:lumMod val="40000"/>
                    <a:lumOff val="60000"/>
                  </a:schemeClr>
                </a:solidFill>
              </a:rPr>
              <a:t>containsString</a:t>
            </a:r>
            <a:r>
              <a:rPr lang="en-IN" sz="1900" dirty="0">
                <a:solidFill>
                  <a:schemeClr val="accent5">
                    <a:lumMod val="40000"/>
                    <a:lumOff val="60000"/>
                  </a:schemeClr>
                </a:solidFill>
              </a:rPr>
              <a:t>(“Created”))</a:t>
            </a:r>
          </a:p>
          <a:p>
            <a:pPr lvl="1" algn="just">
              <a:lnSpc>
                <a:spcPct val="150000"/>
              </a:lnSpc>
              <a:buFont typeface="Wingdings" panose="05000000000000000000" pitchFamily="2" charset="2"/>
              <a:buChar char="Ø"/>
            </a:pPr>
            <a:r>
              <a:rPr lang="en-US" sz="1900" dirty="0"/>
              <a:t>Validate the entire HTTP status line of a response. The status line comprises three parts: the HTTP protocol, the status code, and the status message. For example, a successful response often has a status line like "HTTP/1.1 201 Created". </a:t>
            </a:r>
          </a:p>
          <a:p>
            <a:pPr lvl="1" algn="just">
              <a:lnSpc>
                <a:spcPct val="160000"/>
              </a:lnSpc>
              <a:buFont typeface="Wingdings" panose="05000000000000000000" pitchFamily="2" charset="2"/>
              <a:buChar char="Ø"/>
            </a:pPr>
            <a:r>
              <a:rPr lang="en-US" sz="1900" dirty="0"/>
              <a:t>containsString(“Created”) matcher used to assert that a given string contains a specified substring.</a:t>
            </a:r>
          </a:p>
          <a:p>
            <a:pPr lvl="1" algn="just">
              <a:lnSpc>
                <a:spcPct val="150000"/>
              </a:lnSpc>
              <a:buFont typeface="Wingdings" panose="05000000000000000000" pitchFamily="2" charset="2"/>
              <a:buChar char="Ø"/>
            </a:pPr>
            <a:endParaRPr lang="en-US" sz="1900" dirty="0"/>
          </a:p>
          <a:p>
            <a:pPr lvl="1" algn="just">
              <a:lnSpc>
                <a:spcPct val="150000"/>
              </a:lnSpc>
              <a:buFont typeface="Wingdings" panose="05000000000000000000" pitchFamily="2" charset="2"/>
              <a:buChar char="Ø"/>
            </a:pPr>
            <a:endParaRPr lang="en-US" sz="1900" dirty="0">
              <a:solidFill>
                <a:schemeClr val="accent5">
                  <a:lumMod val="40000"/>
                  <a:lumOff val="60000"/>
                </a:schemeClr>
              </a:solidFill>
            </a:endParaRPr>
          </a:p>
          <a:p>
            <a:pPr lvl="1" algn="just">
              <a:lnSpc>
                <a:spcPct val="150000"/>
              </a:lnSpc>
              <a:buFont typeface="Wingdings" panose="05000000000000000000" pitchFamily="2" charset="2"/>
              <a:buChar char="Ø"/>
            </a:pPr>
            <a:endParaRPr lang="en-US" sz="1800" dirty="0"/>
          </a:p>
          <a:p>
            <a:pPr lvl="1" algn="just">
              <a:lnSpc>
                <a:spcPct val="150000"/>
              </a:lnSpc>
              <a:buFont typeface="Wingdings" panose="05000000000000000000" pitchFamily="2" charset="2"/>
              <a:buChar char="Ø"/>
            </a:pPr>
            <a:endParaRPr lang="en-US" sz="1800" dirty="0"/>
          </a:p>
        </p:txBody>
      </p:sp>
    </p:spTree>
    <p:extLst>
      <p:ext uri="{BB962C8B-B14F-4D97-AF65-F5344CB8AC3E}">
        <p14:creationId xmlns:p14="http://schemas.microsoft.com/office/powerpoint/2010/main" val="35781169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6CBF1-1E79-BAFD-D273-FBF73B31C1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FBECAE-0289-2362-DC52-7C62D92C8234}"/>
              </a:ext>
            </a:extLst>
          </p:cNvPr>
          <p:cNvSpPr>
            <a:spLocks noGrp="1"/>
          </p:cNvSpPr>
          <p:nvPr>
            <p:ph type="title"/>
          </p:nvPr>
        </p:nvSpPr>
        <p:spPr>
          <a:xfrm>
            <a:off x="127818" y="166643"/>
            <a:ext cx="7694818" cy="1325563"/>
          </a:xfrm>
        </p:spPr>
        <p:txBody>
          <a:bodyPr>
            <a:normAutofit/>
          </a:bodyPr>
          <a:lstStyle/>
          <a:p>
            <a:r>
              <a:rPr lang="en-US" sz="5400" b="1" dirty="0">
                <a:latin typeface="+mn-lt"/>
              </a:rPr>
              <a:t>Request Payload</a:t>
            </a:r>
          </a:p>
        </p:txBody>
      </p:sp>
      <p:sp>
        <p:nvSpPr>
          <p:cNvPr id="3" name="Content Placeholder 2">
            <a:extLst>
              <a:ext uri="{FF2B5EF4-FFF2-40B4-BE49-F238E27FC236}">
                <a16:creationId xmlns:a16="http://schemas.microsoft.com/office/drawing/2014/main" id="{AA62DE73-6E9C-FFB1-FFD0-1EC0F3254D14}"/>
              </a:ext>
            </a:extLst>
          </p:cNvPr>
          <p:cNvSpPr>
            <a:spLocks noGrp="1"/>
          </p:cNvSpPr>
          <p:nvPr>
            <p:ph idx="1"/>
          </p:nvPr>
        </p:nvSpPr>
        <p:spPr>
          <a:xfrm>
            <a:off x="216846" y="1644965"/>
            <a:ext cx="3971696" cy="2887706"/>
          </a:xfrm>
        </p:spPr>
        <p:txBody>
          <a:bodyPr>
            <a:normAutofit/>
          </a:bodyPr>
          <a:lstStyle/>
          <a:p>
            <a:pPr>
              <a:lnSpc>
                <a:spcPct val="100000"/>
              </a:lnSpc>
              <a:spcBef>
                <a:spcPts val="0"/>
              </a:spcBef>
              <a:buFont typeface="Calibri" panose="020F0502020204030204" pitchFamily="34" charset="0"/>
              <a:buChar char="⁻"/>
            </a:pPr>
            <a:r>
              <a:rPr lang="en-US" dirty="0"/>
              <a:t>String</a:t>
            </a:r>
          </a:p>
          <a:p>
            <a:pPr>
              <a:lnSpc>
                <a:spcPct val="100000"/>
              </a:lnSpc>
              <a:spcBef>
                <a:spcPts val="0"/>
              </a:spcBef>
              <a:buFont typeface="Calibri" panose="020F0502020204030204" pitchFamily="34" charset="0"/>
              <a:buChar char="⁻"/>
            </a:pPr>
            <a:r>
              <a:rPr lang="en-US" dirty="0"/>
              <a:t>File</a:t>
            </a:r>
          </a:p>
          <a:p>
            <a:pPr>
              <a:lnSpc>
                <a:spcPct val="100000"/>
              </a:lnSpc>
              <a:spcBef>
                <a:spcPts val="0"/>
              </a:spcBef>
              <a:buFont typeface="Calibri" panose="020F0502020204030204" pitchFamily="34" charset="0"/>
              <a:buChar char="⁻"/>
            </a:pPr>
            <a:r>
              <a:rPr lang="en-US" dirty="0"/>
              <a:t>Object</a:t>
            </a:r>
          </a:p>
        </p:txBody>
      </p:sp>
    </p:spTree>
    <p:extLst>
      <p:ext uri="{BB962C8B-B14F-4D97-AF65-F5344CB8AC3E}">
        <p14:creationId xmlns:p14="http://schemas.microsoft.com/office/powerpoint/2010/main" val="1019477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C724A-DB5D-19A2-0F71-4278C840B8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163267-34CC-6C10-D1D4-5CE9BBB63315}"/>
              </a:ext>
            </a:extLst>
          </p:cNvPr>
          <p:cNvSpPr>
            <a:spLocks noGrp="1"/>
          </p:cNvSpPr>
          <p:nvPr>
            <p:ph type="ctrTitle"/>
          </p:nvPr>
        </p:nvSpPr>
        <p:spPr>
          <a:xfrm>
            <a:off x="4242317" y="1143173"/>
            <a:ext cx="7197726" cy="2421464"/>
          </a:xfrm>
        </p:spPr>
        <p:txBody>
          <a:bodyPr/>
          <a:lstStyle/>
          <a:p>
            <a:r>
              <a:rPr lang="en-US" dirty="0"/>
              <a:t>Send</a:t>
            </a:r>
            <a:r>
              <a:rPr lang="en-US" b="1" dirty="0">
                <a:solidFill>
                  <a:srgbClr val="92D050"/>
                </a:solidFill>
              </a:rPr>
              <a:t> Post</a:t>
            </a:r>
            <a:r>
              <a:rPr lang="en-US" dirty="0"/>
              <a:t> request with </a:t>
            </a:r>
            <a:r>
              <a:rPr lang="en-US" b="1" dirty="0">
                <a:solidFill>
                  <a:srgbClr val="92D050"/>
                </a:solidFill>
              </a:rPr>
              <a:t>Request Body </a:t>
            </a:r>
            <a:r>
              <a:rPr lang="en-US" dirty="0"/>
              <a:t>as </a:t>
            </a:r>
            <a:r>
              <a:rPr lang="en-US" b="1" dirty="0">
                <a:solidFill>
                  <a:srgbClr val="92D050"/>
                </a:solidFill>
              </a:rPr>
              <a:t>String</a:t>
            </a:r>
            <a:r>
              <a:rPr lang="en-US" dirty="0"/>
              <a:t> </a:t>
            </a:r>
            <a:endParaRPr lang="en-IN" dirty="0"/>
          </a:p>
        </p:txBody>
      </p:sp>
      <p:sp>
        <p:nvSpPr>
          <p:cNvPr id="3" name="Subtitle 2">
            <a:extLst>
              <a:ext uri="{FF2B5EF4-FFF2-40B4-BE49-F238E27FC236}">
                <a16:creationId xmlns:a16="http://schemas.microsoft.com/office/drawing/2014/main" id="{233A9CBF-01DB-BBC5-1451-C821742C6537}"/>
              </a:ext>
            </a:extLst>
          </p:cNvPr>
          <p:cNvSpPr>
            <a:spLocks noGrp="1"/>
          </p:cNvSpPr>
          <p:nvPr>
            <p:ph type="subTitle" idx="1"/>
          </p:nvPr>
        </p:nvSpPr>
        <p:spPr>
          <a:xfrm>
            <a:off x="4242317" y="3564638"/>
            <a:ext cx="7197726" cy="1405467"/>
          </a:xfrm>
        </p:spPr>
        <p:txBody>
          <a:bodyPr/>
          <a:lstStyle/>
          <a:p>
            <a:r>
              <a:rPr lang="en-US" b="1" dirty="0">
                <a:solidFill>
                  <a:srgbClr val="92D050"/>
                </a:solidFill>
              </a:rPr>
              <a:t>Rest Assured Library</a:t>
            </a:r>
            <a:endParaRPr lang="en-IN" b="1" dirty="0">
              <a:solidFill>
                <a:srgbClr val="92D050"/>
              </a:solidFill>
            </a:endParaRPr>
          </a:p>
        </p:txBody>
      </p:sp>
    </p:spTree>
    <p:extLst>
      <p:ext uri="{BB962C8B-B14F-4D97-AF65-F5344CB8AC3E}">
        <p14:creationId xmlns:p14="http://schemas.microsoft.com/office/powerpoint/2010/main" val="451536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0609F-9C77-AAE3-5055-4F4E52286627}"/>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C76F58F2-60C8-E3B0-D82A-6903AB363B1D}"/>
              </a:ext>
            </a:extLst>
          </p:cNvPr>
          <p:cNvSpPr/>
          <p:nvPr/>
        </p:nvSpPr>
        <p:spPr>
          <a:xfrm>
            <a:off x="327892" y="1617756"/>
            <a:ext cx="3014639" cy="840802"/>
          </a:xfrm>
          <a:prstGeom prst="rect">
            <a:avLst/>
          </a:prstGeom>
          <a:solidFill>
            <a:srgbClr val="0070C0"/>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Given</a:t>
            </a:r>
          </a:p>
        </p:txBody>
      </p:sp>
      <p:sp>
        <p:nvSpPr>
          <p:cNvPr id="12" name="Rectangle 11">
            <a:extLst>
              <a:ext uri="{FF2B5EF4-FFF2-40B4-BE49-F238E27FC236}">
                <a16:creationId xmlns:a16="http://schemas.microsoft.com/office/drawing/2014/main" id="{5DCFC571-267A-894E-DD71-6966908867D0}"/>
              </a:ext>
            </a:extLst>
          </p:cNvPr>
          <p:cNvSpPr/>
          <p:nvPr/>
        </p:nvSpPr>
        <p:spPr>
          <a:xfrm>
            <a:off x="3460953" y="1617756"/>
            <a:ext cx="3014639" cy="840802"/>
          </a:xfrm>
          <a:prstGeom prst="rect">
            <a:avLst/>
          </a:prstGeom>
          <a:solidFill>
            <a:srgbClr val="0070C0"/>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Specify Prerequisites</a:t>
            </a:r>
          </a:p>
        </p:txBody>
      </p:sp>
      <p:sp>
        <p:nvSpPr>
          <p:cNvPr id="13" name="Rectangle 12">
            <a:extLst>
              <a:ext uri="{FF2B5EF4-FFF2-40B4-BE49-F238E27FC236}">
                <a16:creationId xmlns:a16="http://schemas.microsoft.com/office/drawing/2014/main" id="{02E08F0B-1B89-08B2-BDF2-1CAAF5048EE5}"/>
              </a:ext>
            </a:extLst>
          </p:cNvPr>
          <p:cNvSpPr/>
          <p:nvPr/>
        </p:nvSpPr>
        <p:spPr>
          <a:xfrm>
            <a:off x="3460953" y="2588198"/>
            <a:ext cx="3014639" cy="711162"/>
          </a:xfrm>
          <a:prstGeom prst="rect">
            <a:avLst/>
          </a:prstGeom>
          <a:solidFill>
            <a:srgbClr val="4472C4"/>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header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86EEF011-8058-1A8E-3314-CEC70D75D95A}"/>
              </a:ext>
            </a:extLst>
          </p:cNvPr>
          <p:cNvSpPr/>
          <p:nvPr/>
        </p:nvSpPr>
        <p:spPr>
          <a:xfrm>
            <a:off x="3460953" y="3299360"/>
            <a:ext cx="3014639" cy="1100082"/>
          </a:xfrm>
          <a:prstGeom prst="rect">
            <a:avLst/>
          </a:prstGeom>
          <a:solidFill>
            <a:srgbClr val="39C1D7"/>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body</a:t>
            </a:r>
          </a:p>
        </p:txBody>
      </p:sp>
      <p:sp>
        <p:nvSpPr>
          <p:cNvPr id="15" name="Rectangle 14">
            <a:extLst>
              <a:ext uri="{FF2B5EF4-FFF2-40B4-BE49-F238E27FC236}">
                <a16:creationId xmlns:a16="http://schemas.microsoft.com/office/drawing/2014/main" id="{CE20BB9B-B372-BCE8-E7F0-ADA5255F8341}"/>
              </a:ext>
            </a:extLst>
          </p:cNvPr>
          <p:cNvSpPr/>
          <p:nvPr/>
        </p:nvSpPr>
        <p:spPr>
          <a:xfrm>
            <a:off x="6594849" y="3299360"/>
            <a:ext cx="5273877" cy="1100082"/>
          </a:xfrm>
          <a:prstGeom prst="rect">
            <a:avLst/>
          </a:prstGeom>
          <a:solidFill>
            <a:srgbClr val="0070C0"/>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defRPr/>
            </a:pPr>
            <a:r>
              <a:rPr lang="en-US" sz="2400" dirty="0"/>
              <a:t>Send</a:t>
            </a:r>
            <a:r>
              <a:rPr lang="en-US" sz="2400" b="1" dirty="0">
                <a:solidFill>
                  <a:srgbClr val="92D050"/>
                </a:solidFill>
              </a:rPr>
              <a:t> Post</a:t>
            </a:r>
            <a:r>
              <a:rPr lang="en-US" sz="2400" dirty="0"/>
              <a:t> request with </a:t>
            </a:r>
            <a:r>
              <a:rPr lang="en-US" sz="2400" b="1" dirty="0">
                <a:solidFill>
                  <a:srgbClr val="92D050"/>
                </a:solidFill>
              </a:rPr>
              <a:t>Request Body </a:t>
            </a:r>
            <a:r>
              <a:rPr lang="en-US" sz="2400" dirty="0"/>
              <a:t>as a </a:t>
            </a:r>
            <a:r>
              <a:rPr lang="en-US" sz="2400" b="1" dirty="0">
                <a:solidFill>
                  <a:srgbClr val="92D050"/>
                </a:solidFill>
              </a:rPr>
              <a:t>String</a:t>
            </a:r>
            <a:r>
              <a:rPr lang="en-US" sz="2400" dirty="0"/>
              <a:t> </a:t>
            </a:r>
            <a:endPar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B0A11379-A3AE-C77D-39E7-04C76170A692}"/>
              </a:ext>
            </a:extLst>
          </p:cNvPr>
          <p:cNvSpPr/>
          <p:nvPr/>
        </p:nvSpPr>
        <p:spPr>
          <a:xfrm>
            <a:off x="3460953" y="4399442"/>
            <a:ext cx="3014639" cy="1049682"/>
          </a:xfrm>
          <a:prstGeom prst="rect">
            <a:avLst/>
          </a:prstGeom>
          <a:solidFill>
            <a:srgbClr val="39C1D7"/>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prstClr val="white"/>
                </a:solidFill>
                <a:latin typeface="Calibri" panose="020F0502020204030204"/>
              </a:rPr>
              <a:t>g</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et method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1636307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09C56-A88A-27A5-809B-5C996D87DA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E258FA-6AD9-3CCB-9FD9-B84B57FBB3CA}"/>
              </a:ext>
            </a:extLst>
          </p:cNvPr>
          <p:cNvSpPr>
            <a:spLocks noGrp="1"/>
          </p:cNvSpPr>
          <p:nvPr>
            <p:ph type="title"/>
          </p:nvPr>
        </p:nvSpPr>
        <p:spPr>
          <a:xfrm>
            <a:off x="98322" y="146978"/>
            <a:ext cx="7694818" cy="1325563"/>
          </a:xfrm>
        </p:spPr>
        <p:txBody>
          <a:bodyPr>
            <a:normAutofit/>
          </a:bodyPr>
          <a:lstStyle/>
          <a:p>
            <a:r>
              <a:rPr lang="en-US" sz="5400" b="1" dirty="0">
                <a:latin typeface="+mn-lt"/>
              </a:rPr>
              <a:t>API Request</a:t>
            </a:r>
          </a:p>
        </p:txBody>
      </p:sp>
      <p:sp>
        <p:nvSpPr>
          <p:cNvPr id="3" name="Content Placeholder 2">
            <a:extLst>
              <a:ext uri="{FF2B5EF4-FFF2-40B4-BE49-F238E27FC236}">
                <a16:creationId xmlns:a16="http://schemas.microsoft.com/office/drawing/2014/main" id="{CA4D9D85-03A3-38B3-3A5A-5A014731DD07}"/>
              </a:ext>
            </a:extLst>
          </p:cNvPr>
          <p:cNvSpPr>
            <a:spLocks noGrp="1"/>
          </p:cNvSpPr>
          <p:nvPr>
            <p:ph idx="1"/>
          </p:nvPr>
        </p:nvSpPr>
        <p:spPr>
          <a:xfrm>
            <a:off x="98322" y="1713791"/>
            <a:ext cx="9576620" cy="3507138"/>
          </a:xfrm>
        </p:spPr>
        <p:txBody>
          <a:bodyPr>
            <a:normAutofit/>
          </a:bodyPr>
          <a:lstStyle/>
          <a:p>
            <a:pPr>
              <a:lnSpc>
                <a:spcPct val="100000"/>
              </a:lnSpc>
              <a:spcBef>
                <a:spcPts val="0"/>
              </a:spcBef>
              <a:buFont typeface="Calibri" panose="020F0502020204030204" pitchFamily="34" charset="0"/>
              <a:buChar char="⁻"/>
            </a:pPr>
            <a:r>
              <a:rPr lang="en-US" dirty="0"/>
              <a:t>Authorization</a:t>
            </a:r>
          </a:p>
          <a:p>
            <a:pPr>
              <a:lnSpc>
                <a:spcPct val="100000"/>
              </a:lnSpc>
              <a:spcBef>
                <a:spcPts val="0"/>
              </a:spcBef>
              <a:buFont typeface="Calibri" panose="020F0502020204030204" pitchFamily="34" charset="0"/>
              <a:buChar char="⁻"/>
            </a:pPr>
            <a:r>
              <a:rPr lang="en-US" dirty="0"/>
              <a:t>Path Parameter (Optional)</a:t>
            </a:r>
          </a:p>
          <a:p>
            <a:pPr>
              <a:lnSpc>
                <a:spcPct val="100000"/>
              </a:lnSpc>
              <a:spcBef>
                <a:spcPts val="0"/>
              </a:spcBef>
              <a:buFont typeface="Calibri" panose="020F0502020204030204" pitchFamily="34" charset="0"/>
              <a:buChar char="⁻"/>
            </a:pPr>
            <a:r>
              <a:rPr lang="en-US" dirty="0"/>
              <a:t>Accept Header (Optional)</a:t>
            </a:r>
          </a:p>
          <a:p>
            <a:pPr>
              <a:lnSpc>
                <a:spcPct val="100000"/>
              </a:lnSpc>
              <a:spcBef>
                <a:spcPts val="0"/>
              </a:spcBef>
              <a:buFont typeface="Calibri" panose="020F0502020204030204" pitchFamily="34" charset="0"/>
              <a:buChar char="⁻"/>
            </a:pPr>
            <a:r>
              <a:rPr lang="en-US" dirty="0"/>
              <a:t>Body as String</a:t>
            </a:r>
          </a:p>
          <a:p>
            <a:pPr>
              <a:lnSpc>
                <a:spcPct val="100000"/>
              </a:lnSpc>
              <a:spcBef>
                <a:spcPts val="0"/>
              </a:spcBef>
              <a:buFont typeface="Calibri" panose="020F0502020204030204" pitchFamily="34" charset="0"/>
              <a:buChar char="⁻"/>
            </a:pPr>
            <a:r>
              <a:rPr lang="en-US" dirty="0"/>
              <a:t>POST Method</a:t>
            </a:r>
          </a:p>
        </p:txBody>
      </p:sp>
    </p:spTree>
    <p:extLst>
      <p:ext uri="{BB962C8B-B14F-4D97-AF65-F5344CB8AC3E}">
        <p14:creationId xmlns:p14="http://schemas.microsoft.com/office/powerpoint/2010/main" val="3398528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D9B70-6F2A-42E1-080E-04F2040D30B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D10FA33-735D-811C-C937-2F05737EBEE7}"/>
              </a:ext>
            </a:extLst>
          </p:cNvPr>
          <p:cNvSpPr txBox="1"/>
          <p:nvPr/>
        </p:nvSpPr>
        <p:spPr>
          <a:xfrm>
            <a:off x="5640355" y="2971800"/>
            <a:ext cx="914400" cy="914400"/>
          </a:xfrm>
          <a:prstGeom prst="rect">
            <a:avLst/>
          </a:prstGeom>
          <a:noFill/>
        </p:spPr>
        <p:txBody>
          <a:bodyPr wrap="square" rtlCol="0">
            <a:spAutoFit/>
          </a:bodyPr>
          <a:lstStyle/>
          <a:p>
            <a:endParaRPr lang="en-IN" dirty="0"/>
          </a:p>
        </p:txBody>
      </p:sp>
      <p:sp>
        <p:nvSpPr>
          <p:cNvPr id="3" name="TextBox 2">
            <a:extLst>
              <a:ext uri="{FF2B5EF4-FFF2-40B4-BE49-F238E27FC236}">
                <a16:creationId xmlns:a16="http://schemas.microsoft.com/office/drawing/2014/main" id="{4817F218-996F-AD68-355A-F049D866104F}"/>
              </a:ext>
            </a:extLst>
          </p:cNvPr>
          <p:cNvSpPr txBox="1"/>
          <p:nvPr/>
        </p:nvSpPr>
        <p:spPr>
          <a:xfrm>
            <a:off x="207606" y="0"/>
            <a:ext cx="10865498" cy="6463308"/>
          </a:xfrm>
          <a:prstGeom prst="rect">
            <a:avLst/>
          </a:prstGeom>
          <a:noFill/>
        </p:spPr>
        <p:txBody>
          <a:bodyPr wrap="square" rtlCol="0">
            <a:spAutoFit/>
          </a:bodyPr>
          <a:lstStyle/>
          <a:p>
            <a:r>
              <a:rPr lang="en-IN" dirty="0"/>
              <a:t>RestAssured.given()</a:t>
            </a:r>
          </a:p>
          <a:p>
            <a:r>
              <a:rPr lang="en-IN" dirty="0"/>
              <a:t>             </a:t>
            </a:r>
            <a:r>
              <a:rPr lang="en-IN" dirty="0">
                <a:solidFill>
                  <a:srgbClr val="FFFF00"/>
                </a:solidFill>
              </a:rPr>
              <a:t>// To define the base Uniform Resource Identifier (URI)</a:t>
            </a:r>
          </a:p>
          <a:p>
            <a:r>
              <a:rPr lang="en-IN" dirty="0"/>
              <a:t>            .baseUri("https://dev214352.service-now.com")</a:t>
            </a:r>
          </a:p>
          <a:p>
            <a:r>
              <a:rPr lang="en-IN" dirty="0"/>
              <a:t>             </a:t>
            </a:r>
            <a:r>
              <a:rPr lang="en-IN" dirty="0">
                <a:solidFill>
                  <a:srgbClr val="FFFF00"/>
                </a:solidFill>
              </a:rPr>
              <a:t>// </a:t>
            </a:r>
            <a:r>
              <a:rPr lang="en-US" dirty="0">
                <a:solidFill>
                  <a:srgbClr val="FFFF00"/>
                </a:solidFill>
              </a:rPr>
              <a:t>To define a common path segment that will be prepended to the path of all subsequent requests</a:t>
            </a:r>
            <a:endParaRPr lang="en-IN" dirty="0">
              <a:solidFill>
                <a:srgbClr val="FFFF00"/>
              </a:solidFill>
            </a:endParaRPr>
          </a:p>
          <a:p>
            <a:r>
              <a:rPr lang="en-IN" dirty="0"/>
              <a:t>            .basePath("/api/now/table")</a:t>
            </a:r>
          </a:p>
          <a:p>
            <a:r>
              <a:rPr lang="en-IN" dirty="0"/>
              <a:t>             </a:t>
            </a:r>
            <a:r>
              <a:rPr lang="en-IN" dirty="0">
                <a:solidFill>
                  <a:srgbClr val="FFFF00"/>
                </a:solidFill>
              </a:rPr>
              <a:t>// Request header for </a:t>
            </a:r>
            <a:r>
              <a:rPr lang="en-US" dirty="0">
                <a:solidFill>
                  <a:srgbClr val="FFFF00"/>
                </a:solidFill>
              </a:rPr>
              <a:t>specifying the type of content that can be accepted in a response</a:t>
            </a:r>
            <a:endParaRPr lang="en-IN" dirty="0">
              <a:solidFill>
                <a:srgbClr val="FFFF00"/>
              </a:solidFill>
            </a:endParaRPr>
          </a:p>
          <a:p>
            <a:r>
              <a:rPr lang="en-IN" dirty="0"/>
              <a:t>            .header("Accept", "application/json")</a:t>
            </a:r>
          </a:p>
          <a:p>
            <a:r>
              <a:rPr lang="en-IN" dirty="0"/>
              <a:t>             </a:t>
            </a:r>
            <a:r>
              <a:rPr lang="en-IN" dirty="0">
                <a:solidFill>
                  <a:srgbClr val="FFFF00"/>
                </a:solidFill>
              </a:rPr>
              <a:t>// To set the Path parameter which mentioned in the path of the endpoint</a:t>
            </a:r>
          </a:p>
          <a:p>
            <a:r>
              <a:rPr lang="en-IN" dirty="0"/>
              <a:t>            .pathParam("tableName", " incident")</a:t>
            </a:r>
          </a:p>
          <a:p>
            <a:r>
              <a:rPr lang="en-IN" dirty="0"/>
              <a:t>            .when()</a:t>
            </a:r>
          </a:p>
          <a:p>
            <a:r>
              <a:rPr lang="en-IN" dirty="0"/>
              <a:t>             </a:t>
            </a:r>
            <a:r>
              <a:rPr lang="en-IN" dirty="0">
                <a:solidFill>
                  <a:srgbClr val="FFFF00"/>
                </a:solidFill>
              </a:rPr>
              <a:t>// T</a:t>
            </a:r>
            <a:r>
              <a:rPr lang="en-US" dirty="0">
                <a:solidFill>
                  <a:srgbClr val="FFFF00"/>
                </a:solidFill>
              </a:rPr>
              <a:t>he request body that will be sent with an HTTP request, typically for methods like POST, PUT, or PATCH</a:t>
            </a:r>
            <a:endParaRPr lang="en-IN" dirty="0">
              <a:solidFill>
                <a:srgbClr val="FFFF00"/>
              </a:solidFill>
            </a:endParaRPr>
          </a:p>
          <a:p>
            <a:r>
              <a:rPr lang="en-IN" dirty="0"/>
              <a:t>            .body(“””</a:t>
            </a:r>
          </a:p>
          <a:p>
            <a:r>
              <a:rPr lang="en-IN" dirty="0"/>
              <a:t>                          </a:t>
            </a:r>
            <a:r>
              <a:rPr lang="en-US" dirty="0"/>
              <a:t>{</a:t>
            </a:r>
          </a:p>
          <a:p>
            <a:r>
              <a:rPr lang="en-US" dirty="0"/>
              <a:t>                             “description”: “Create a new record using POST method,</a:t>
            </a:r>
          </a:p>
          <a:p>
            <a:r>
              <a:rPr lang="en-US" dirty="0"/>
              <a:t>                             “short_description”: “RESTAPISEP2025”</a:t>
            </a:r>
          </a:p>
          <a:p>
            <a:r>
              <a:rPr lang="en-US" dirty="0"/>
              <a:t>                          }</a:t>
            </a:r>
          </a:p>
          <a:p>
            <a:r>
              <a:rPr lang="en-US" dirty="0"/>
              <a:t>                        ””</a:t>
            </a:r>
            <a:r>
              <a:rPr lang="en-IN" dirty="0"/>
              <a:t>”)</a:t>
            </a:r>
          </a:p>
          <a:p>
            <a:r>
              <a:rPr lang="en-IN" dirty="0"/>
              <a:t>             </a:t>
            </a:r>
            <a:r>
              <a:rPr lang="en-IN" dirty="0">
                <a:solidFill>
                  <a:srgbClr val="FFFF00"/>
                </a:solidFill>
              </a:rPr>
              <a:t>// Endpoint for fetching all incident records</a:t>
            </a:r>
            <a:r>
              <a:rPr lang="en-IN" dirty="0"/>
              <a:t> </a:t>
            </a:r>
          </a:p>
          <a:p>
            <a:r>
              <a:rPr lang="en-IN" dirty="0"/>
              <a:t>            .post("/{tableName}")</a:t>
            </a:r>
          </a:p>
          <a:p>
            <a:r>
              <a:rPr lang="en-IN" dirty="0"/>
              <a:t>            .then().assertThat()</a:t>
            </a:r>
          </a:p>
          <a:p>
            <a:r>
              <a:rPr lang="en-IN" dirty="0"/>
              <a:t>             </a:t>
            </a:r>
            <a:r>
              <a:rPr lang="en-IN" dirty="0">
                <a:solidFill>
                  <a:srgbClr val="FFFF00"/>
                </a:solidFill>
              </a:rPr>
              <a:t>// Assert response status code</a:t>
            </a:r>
          </a:p>
          <a:p>
            <a:r>
              <a:rPr lang="en-IN" dirty="0"/>
              <a:t>            . statusCode(Matchers.</a:t>
            </a:r>
            <a:r>
              <a:rPr lang="en-IN" i="1" dirty="0"/>
              <a:t>equalTo</a:t>
            </a:r>
            <a:r>
              <a:rPr lang="en-IN" dirty="0"/>
              <a:t>(201))</a:t>
            </a:r>
          </a:p>
          <a:p>
            <a:r>
              <a:rPr lang="en-IN" dirty="0"/>
              <a:t>            .statusLine(Matchers.containsString(“Created”)); </a:t>
            </a:r>
            <a:r>
              <a:rPr lang="en-IN" dirty="0">
                <a:solidFill>
                  <a:srgbClr val="FFFF00"/>
                </a:solidFill>
              </a:rPr>
              <a:t>// Assert response status name</a:t>
            </a:r>
          </a:p>
        </p:txBody>
      </p:sp>
    </p:spTree>
    <p:extLst>
      <p:ext uri="{BB962C8B-B14F-4D97-AF65-F5344CB8AC3E}">
        <p14:creationId xmlns:p14="http://schemas.microsoft.com/office/powerpoint/2010/main" val="288087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87A79-D748-1704-0471-1B4C57527C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26E437-3925-2E12-41AE-B6EBAAD26D16}"/>
              </a:ext>
            </a:extLst>
          </p:cNvPr>
          <p:cNvSpPr>
            <a:spLocks noGrp="1"/>
          </p:cNvSpPr>
          <p:nvPr>
            <p:ph type="title"/>
          </p:nvPr>
        </p:nvSpPr>
        <p:spPr>
          <a:xfrm>
            <a:off x="108155" y="97818"/>
            <a:ext cx="7694818" cy="1325563"/>
          </a:xfrm>
        </p:spPr>
        <p:txBody>
          <a:bodyPr>
            <a:normAutofit/>
          </a:bodyPr>
          <a:lstStyle/>
          <a:p>
            <a:r>
              <a:rPr lang="en-US" sz="5400" b="1" dirty="0">
                <a:latin typeface="+mn-lt"/>
              </a:rPr>
              <a:t>API Response</a:t>
            </a:r>
          </a:p>
        </p:txBody>
      </p:sp>
      <p:sp>
        <p:nvSpPr>
          <p:cNvPr id="3" name="Content Placeholder 2">
            <a:extLst>
              <a:ext uri="{FF2B5EF4-FFF2-40B4-BE49-F238E27FC236}">
                <a16:creationId xmlns:a16="http://schemas.microsoft.com/office/drawing/2014/main" id="{A76B142F-A9CD-DE37-6B8E-573C642292D6}"/>
              </a:ext>
            </a:extLst>
          </p:cNvPr>
          <p:cNvSpPr>
            <a:spLocks noGrp="1"/>
          </p:cNvSpPr>
          <p:nvPr>
            <p:ph idx="1"/>
          </p:nvPr>
        </p:nvSpPr>
        <p:spPr>
          <a:xfrm>
            <a:off x="236512" y="1625300"/>
            <a:ext cx="7373655" cy="3693952"/>
          </a:xfrm>
        </p:spPr>
        <p:txBody>
          <a:bodyPr>
            <a:normAutofit/>
          </a:bodyPr>
          <a:lstStyle/>
          <a:p>
            <a:pPr>
              <a:lnSpc>
                <a:spcPct val="100000"/>
              </a:lnSpc>
              <a:spcBef>
                <a:spcPts val="0"/>
              </a:spcBef>
              <a:buFont typeface="Calibri" panose="020F0502020204030204" pitchFamily="34" charset="0"/>
              <a:buChar char="⁻"/>
            </a:pPr>
            <a:r>
              <a:rPr lang="en-US" dirty="0"/>
              <a:t>HTTP Status Code</a:t>
            </a:r>
          </a:p>
          <a:p>
            <a:pPr>
              <a:lnSpc>
                <a:spcPct val="100000"/>
              </a:lnSpc>
              <a:spcBef>
                <a:spcPts val="0"/>
              </a:spcBef>
              <a:buFont typeface="Calibri" panose="020F0502020204030204" pitchFamily="34" charset="0"/>
              <a:buChar char="⁻"/>
            </a:pPr>
            <a:r>
              <a:rPr lang="en-US" dirty="0"/>
              <a:t>HTTP Status Name</a:t>
            </a:r>
          </a:p>
          <a:p>
            <a:pPr>
              <a:lnSpc>
                <a:spcPct val="100000"/>
              </a:lnSpc>
              <a:spcBef>
                <a:spcPts val="0"/>
              </a:spcBef>
              <a:buFont typeface="Calibri" panose="020F0502020204030204" pitchFamily="34" charset="0"/>
              <a:buChar char="⁻"/>
            </a:pPr>
            <a:r>
              <a:rPr lang="en-US" dirty="0"/>
              <a:t>Header</a:t>
            </a:r>
          </a:p>
          <a:p>
            <a:pPr>
              <a:lnSpc>
                <a:spcPct val="100000"/>
              </a:lnSpc>
              <a:spcBef>
                <a:spcPts val="0"/>
              </a:spcBef>
              <a:buFont typeface="Calibri" panose="020F0502020204030204" pitchFamily="34" charset="0"/>
              <a:buChar char="⁻"/>
            </a:pPr>
            <a:r>
              <a:rPr lang="en-US" dirty="0"/>
              <a:t>Response Body</a:t>
            </a:r>
          </a:p>
        </p:txBody>
      </p:sp>
    </p:spTree>
    <p:extLst>
      <p:ext uri="{BB962C8B-B14F-4D97-AF65-F5344CB8AC3E}">
        <p14:creationId xmlns:p14="http://schemas.microsoft.com/office/powerpoint/2010/main" val="911480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DF321E1-A217-F15E-2E0D-30046DA50975}"/>
              </a:ext>
            </a:extLst>
          </p:cNvPr>
          <p:cNvSpPr txBox="1">
            <a:spLocks/>
          </p:cNvSpPr>
          <p:nvPr/>
        </p:nvSpPr>
        <p:spPr>
          <a:xfrm>
            <a:off x="102637" y="420777"/>
            <a:ext cx="6680718" cy="978815"/>
          </a:xfrm>
          <a:prstGeom prst="rect">
            <a:avLst/>
          </a:prstGeom>
        </p:spPr>
        <p:txBody>
          <a:bodyP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5400" b="1" dirty="0">
                <a:latin typeface="+mn-lt"/>
              </a:rPr>
              <a:t>Hamcrest Matches</a:t>
            </a:r>
          </a:p>
        </p:txBody>
      </p:sp>
      <p:sp>
        <p:nvSpPr>
          <p:cNvPr id="5" name="TextBox 4">
            <a:extLst>
              <a:ext uri="{FF2B5EF4-FFF2-40B4-BE49-F238E27FC236}">
                <a16:creationId xmlns:a16="http://schemas.microsoft.com/office/drawing/2014/main" id="{E4F06B48-8494-C26C-5C04-29A60102FBDC}"/>
              </a:ext>
            </a:extLst>
          </p:cNvPr>
          <p:cNvSpPr txBox="1"/>
          <p:nvPr/>
        </p:nvSpPr>
        <p:spPr>
          <a:xfrm>
            <a:off x="0" y="1593027"/>
            <a:ext cx="10840065" cy="2957861"/>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dirty="0">
                <a:solidFill>
                  <a:schemeClr val="accent5">
                    <a:lumMod val="60000"/>
                    <a:lumOff val="40000"/>
                  </a:schemeClr>
                </a:solidFill>
              </a:rPr>
              <a:t>body(“result.short_description”, Matchers.equalTo(“expected-value”))</a:t>
            </a:r>
          </a:p>
          <a:p>
            <a:pPr algn="just">
              <a:lnSpc>
                <a:spcPct val="150000"/>
              </a:lnSpc>
            </a:pPr>
            <a:endParaRPr lang="en-US" dirty="0">
              <a:solidFill>
                <a:schemeClr val="accent5">
                  <a:lumMod val="60000"/>
                  <a:lumOff val="40000"/>
                </a:schemeClr>
              </a:solidFill>
            </a:endParaRPr>
          </a:p>
          <a:p>
            <a:pPr lvl="1" algn="just">
              <a:lnSpc>
                <a:spcPct val="150000"/>
              </a:lnSpc>
              <a:buFont typeface="Wingdings" panose="05000000000000000000" pitchFamily="2" charset="2"/>
              <a:buChar char="Ø"/>
            </a:pPr>
            <a:r>
              <a:rPr lang="en-US" dirty="0"/>
              <a:t> Creates a matcher that matches when the examined object is logically equal to the specified </a:t>
            </a:r>
            <a:r>
              <a:rPr lang="en-US" i="1" dirty="0"/>
              <a:t>operand</a:t>
            </a:r>
            <a:r>
              <a:rPr lang="en-US" dirty="0"/>
              <a:t>, as determined by calling the Object.equals(java.lang.Object) method on the examined object.</a:t>
            </a:r>
          </a:p>
          <a:p>
            <a:pPr lvl="1" algn="just">
              <a:lnSpc>
                <a:spcPct val="150000"/>
              </a:lnSpc>
            </a:pPr>
            <a:endParaRPr lang="en-US" dirty="0"/>
          </a:p>
          <a:p>
            <a:pPr lvl="1" algn="just">
              <a:lnSpc>
                <a:spcPct val="150000"/>
              </a:lnSpc>
              <a:buFont typeface="Wingdings" panose="05000000000000000000" pitchFamily="2" charset="2"/>
              <a:buChar char="Ø"/>
            </a:pPr>
            <a:r>
              <a:rPr lang="en-US" dirty="0"/>
              <a:t> Validate the short_description key actual value should match exactly against the expected value.</a:t>
            </a:r>
          </a:p>
          <a:p>
            <a:pPr lvl="1" algn="just">
              <a:lnSpc>
                <a:spcPct val="150000"/>
              </a:lnSpc>
              <a:buFont typeface="Wingdings" panose="05000000000000000000" pitchFamily="2" charset="2"/>
              <a:buChar char="Ø"/>
            </a:pPr>
            <a:endParaRPr lang="en-US" dirty="0"/>
          </a:p>
        </p:txBody>
      </p:sp>
    </p:spTree>
    <p:extLst>
      <p:ext uri="{BB962C8B-B14F-4D97-AF65-F5344CB8AC3E}">
        <p14:creationId xmlns:p14="http://schemas.microsoft.com/office/powerpoint/2010/main" val="25312129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19D47-5C5C-CF1F-A4CC-3DD8B65DE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C4A369-0E2C-4361-E00A-B36652807373}"/>
              </a:ext>
            </a:extLst>
          </p:cNvPr>
          <p:cNvSpPr>
            <a:spLocks noGrp="1"/>
          </p:cNvSpPr>
          <p:nvPr>
            <p:ph type="ctrTitle"/>
          </p:nvPr>
        </p:nvSpPr>
        <p:spPr>
          <a:xfrm>
            <a:off x="4242317" y="1143173"/>
            <a:ext cx="7197726" cy="2421464"/>
          </a:xfrm>
        </p:spPr>
        <p:txBody>
          <a:bodyPr/>
          <a:lstStyle/>
          <a:p>
            <a:r>
              <a:rPr lang="en-US" dirty="0"/>
              <a:t>Send</a:t>
            </a:r>
            <a:r>
              <a:rPr lang="en-US" b="1" dirty="0">
                <a:solidFill>
                  <a:srgbClr val="92D050"/>
                </a:solidFill>
              </a:rPr>
              <a:t> Post</a:t>
            </a:r>
            <a:r>
              <a:rPr lang="en-US" dirty="0"/>
              <a:t> request with </a:t>
            </a:r>
            <a:r>
              <a:rPr lang="en-US" b="1" dirty="0">
                <a:solidFill>
                  <a:srgbClr val="92D050"/>
                </a:solidFill>
              </a:rPr>
              <a:t>Request Body </a:t>
            </a:r>
            <a:r>
              <a:rPr lang="en-US" dirty="0"/>
              <a:t>as </a:t>
            </a:r>
            <a:r>
              <a:rPr lang="en-US" b="1" dirty="0">
                <a:solidFill>
                  <a:srgbClr val="92D050"/>
                </a:solidFill>
              </a:rPr>
              <a:t>File</a:t>
            </a:r>
            <a:r>
              <a:rPr lang="en-US" dirty="0"/>
              <a:t> </a:t>
            </a:r>
            <a:endParaRPr lang="en-IN" dirty="0"/>
          </a:p>
        </p:txBody>
      </p:sp>
      <p:sp>
        <p:nvSpPr>
          <p:cNvPr id="3" name="Subtitle 2">
            <a:extLst>
              <a:ext uri="{FF2B5EF4-FFF2-40B4-BE49-F238E27FC236}">
                <a16:creationId xmlns:a16="http://schemas.microsoft.com/office/drawing/2014/main" id="{3EFD23E7-D117-9478-FE0C-76CC1C4A59BB}"/>
              </a:ext>
            </a:extLst>
          </p:cNvPr>
          <p:cNvSpPr>
            <a:spLocks noGrp="1"/>
          </p:cNvSpPr>
          <p:nvPr>
            <p:ph type="subTitle" idx="1"/>
          </p:nvPr>
        </p:nvSpPr>
        <p:spPr>
          <a:xfrm>
            <a:off x="4242317" y="3564638"/>
            <a:ext cx="7197726" cy="1405467"/>
          </a:xfrm>
        </p:spPr>
        <p:txBody>
          <a:bodyPr/>
          <a:lstStyle/>
          <a:p>
            <a:r>
              <a:rPr lang="en-US" b="1" dirty="0">
                <a:solidFill>
                  <a:srgbClr val="92D050"/>
                </a:solidFill>
              </a:rPr>
              <a:t>Rest Assured Library</a:t>
            </a:r>
            <a:endParaRPr lang="en-IN" b="1" dirty="0">
              <a:solidFill>
                <a:srgbClr val="92D050"/>
              </a:solidFill>
            </a:endParaRPr>
          </a:p>
        </p:txBody>
      </p:sp>
    </p:spTree>
    <p:extLst>
      <p:ext uri="{BB962C8B-B14F-4D97-AF65-F5344CB8AC3E}">
        <p14:creationId xmlns:p14="http://schemas.microsoft.com/office/powerpoint/2010/main" val="1031229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EF901-946A-6A38-4E53-CAFA4D13A301}"/>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D81F38BA-A8EB-747F-00A5-34287B534286}"/>
              </a:ext>
            </a:extLst>
          </p:cNvPr>
          <p:cNvSpPr/>
          <p:nvPr/>
        </p:nvSpPr>
        <p:spPr>
          <a:xfrm>
            <a:off x="327892" y="1617756"/>
            <a:ext cx="3014639" cy="840802"/>
          </a:xfrm>
          <a:prstGeom prst="rect">
            <a:avLst/>
          </a:prstGeom>
          <a:solidFill>
            <a:srgbClr val="0070C0"/>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Given</a:t>
            </a:r>
          </a:p>
        </p:txBody>
      </p:sp>
      <p:sp>
        <p:nvSpPr>
          <p:cNvPr id="12" name="Rectangle 11">
            <a:extLst>
              <a:ext uri="{FF2B5EF4-FFF2-40B4-BE49-F238E27FC236}">
                <a16:creationId xmlns:a16="http://schemas.microsoft.com/office/drawing/2014/main" id="{364726E7-F50F-AA96-8D3B-B02AD6276CE8}"/>
              </a:ext>
            </a:extLst>
          </p:cNvPr>
          <p:cNvSpPr/>
          <p:nvPr/>
        </p:nvSpPr>
        <p:spPr>
          <a:xfrm>
            <a:off x="3460953" y="1617756"/>
            <a:ext cx="3014639" cy="840802"/>
          </a:xfrm>
          <a:prstGeom prst="rect">
            <a:avLst/>
          </a:prstGeom>
          <a:solidFill>
            <a:srgbClr val="0070C0"/>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Specify Prerequisites</a:t>
            </a:r>
          </a:p>
        </p:txBody>
      </p:sp>
      <p:sp>
        <p:nvSpPr>
          <p:cNvPr id="13" name="Rectangle 12">
            <a:extLst>
              <a:ext uri="{FF2B5EF4-FFF2-40B4-BE49-F238E27FC236}">
                <a16:creationId xmlns:a16="http://schemas.microsoft.com/office/drawing/2014/main" id="{16B51950-BD9A-9870-0D87-9B2EEED92C16}"/>
              </a:ext>
            </a:extLst>
          </p:cNvPr>
          <p:cNvSpPr/>
          <p:nvPr/>
        </p:nvSpPr>
        <p:spPr>
          <a:xfrm>
            <a:off x="3460953" y="2588198"/>
            <a:ext cx="3014639" cy="711162"/>
          </a:xfrm>
          <a:prstGeom prst="rect">
            <a:avLst/>
          </a:prstGeom>
          <a:solidFill>
            <a:srgbClr val="4472C4"/>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header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56E8E8F-D99D-D049-CC2D-5CEF04CFFD56}"/>
              </a:ext>
            </a:extLst>
          </p:cNvPr>
          <p:cNvSpPr/>
          <p:nvPr/>
        </p:nvSpPr>
        <p:spPr>
          <a:xfrm>
            <a:off x="3460953" y="3299360"/>
            <a:ext cx="3014639" cy="1100082"/>
          </a:xfrm>
          <a:prstGeom prst="rect">
            <a:avLst/>
          </a:prstGeom>
          <a:solidFill>
            <a:srgbClr val="39C1D7"/>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body</a:t>
            </a:r>
          </a:p>
        </p:txBody>
      </p:sp>
      <p:sp>
        <p:nvSpPr>
          <p:cNvPr id="15" name="Rectangle 14">
            <a:extLst>
              <a:ext uri="{FF2B5EF4-FFF2-40B4-BE49-F238E27FC236}">
                <a16:creationId xmlns:a16="http://schemas.microsoft.com/office/drawing/2014/main" id="{73E84FE1-9E42-AC96-B16C-6E3BD26E1FE6}"/>
              </a:ext>
            </a:extLst>
          </p:cNvPr>
          <p:cNvSpPr/>
          <p:nvPr/>
        </p:nvSpPr>
        <p:spPr>
          <a:xfrm>
            <a:off x="6594849" y="3299360"/>
            <a:ext cx="5273877" cy="1100082"/>
          </a:xfrm>
          <a:prstGeom prst="rect">
            <a:avLst/>
          </a:prstGeom>
          <a:solidFill>
            <a:srgbClr val="0070C0"/>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defRPr/>
            </a:pPr>
            <a:r>
              <a:rPr lang="en-US" sz="2400" dirty="0"/>
              <a:t>Send</a:t>
            </a:r>
            <a:r>
              <a:rPr lang="en-US" sz="2400" b="1" dirty="0">
                <a:solidFill>
                  <a:srgbClr val="92D050"/>
                </a:solidFill>
              </a:rPr>
              <a:t> Post</a:t>
            </a:r>
            <a:r>
              <a:rPr lang="en-US" sz="2400" dirty="0"/>
              <a:t> request with </a:t>
            </a:r>
            <a:r>
              <a:rPr lang="en-US" sz="2400" b="1" dirty="0">
                <a:solidFill>
                  <a:srgbClr val="92D050"/>
                </a:solidFill>
              </a:rPr>
              <a:t>Request Body </a:t>
            </a:r>
            <a:r>
              <a:rPr lang="en-US" sz="2400" dirty="0"/>
              <a:t>as a </a:t>
            </a:r>
            <a:r>
              <a:rPr lang="en-US" sz="2400" b="1" dirty="0">
                <a:solidFill>
                  <a:srgbClr val="92D050"/>
                </a:solidFill>
              </a:rPr>
              <a:t>File</a:t>
            </a:r>
            <a:r>
              <a:rPr lang="en-US" sz="2400" dirty="0"/>
              <a:t> </a:t>
            </a:r>
            <a:endPar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F9AE7D7E-C36B-8007-AA0F-80A6FCB94FC7}"/>
              </a:ext>
            </a:extLst>
          </p:cNvPr>
          <p:cNvSpPr/>
          <p:nvPr/>
        </p:nvSpPr>
        <p:spPr>
          <a:xfrm>
            <a:off x="3460953" y="4399442"/>
            <a:ext cx="3014639" cy="1049682"/>
          </a:xfrm>
          <a:prstGeom prst="rect">
            <a:avLst/>
          </a:prstGeom>
          <a:solidFill>
            <a:srgbClr val="39C1D7"/>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prstClr val="white"/>
                </a:solidFill>
                <a:latin typeface="Calibri" panose="020F0502020204030204"/>
              </a:rPr>
              <a:t>g</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et method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23162748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07369-AA7F-BE95-896C-DDAB63BD4E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CF0294-4E57-8211-F7CF-FEF094252EEE}"/>
              </a:ext>
            </a:extLst>
          </p:cNvPr>
          <p:cNvSpPr>
            <a:spLocks noGrp="1"/>
          </p:cNvSpPr>
          <p:nvPr>
            <p:ph type="title"/>
          </p:nvPr>
        </p:nvSpPr>
        <p:spPr>
          <a:xfrm>
            <a:off x="127819" y="215805"/>
            <a:ext cx="7694818" cy="1325563"/>
          </a:xfrm>
        </p:spPr>
        <p:txBody>
          <a:bodyPr>
            <a:normAutofit/>
          </a:bodyPr>
          <a:lstStyle/>
          <a:p>
            <a:r>
              <a:rPr lang="en-US" sz="5400" b="1" dirty="0">
                <a:latin typeface="+mn-lt"/>
              </a:rPr>
              <a:t>API Request</a:t>
            </a:r>
          </a:p>
        </p:txBody>
      </p:sp>
      <p:sp>
        <p:nvSpPr>
          <p:cNvPr id="3" name="Content Placeholder 2">
            <a:extLst>
              <a:ext uri="{FF2B5EF4-FFF2-40B4-BE49-F238E27FC236}">
                <a16:creationId xmlns:a16="http://schemas.microsoft.com/office/drawing/2014/main" id="{B577DF26-C4C1-5359-9FA6-FC886408C841}"/>
              </a:ext>
            </a:extLst>
          </p:cNvPr>
          <p:cNvSpPr>
            <a:spLocks noGrp="1"/>
          </p:cNvSpPr>
          <p:nvPr>
            <p:ph idx="1"/>
          </p:nvPr>
        </p:nvSpPr>
        <p:spPr>
          <a:xfrm>
            <a:off x="127819" y="1446651"/>
            <a:ext cx="10274710" cy="3964697"/>
          </a:xfrm>
        </p:spPr>
        <p:txBody>
          <a:bodyPr>
            <a:normAutofit/>
          </a:bodyPr>
          <a:lstStyle/>
          <a:p>
            <a:pPr>
              <a:lnSpc>
                <a:spcPct val="100000"/>
              </a:lnSpc>
              <a:spcBef>
                <a:spcPts val="0"/>
              </a:spcBef>
              <a:buFont typeface="Calibri" panose="020F0502020204030204" pitchFamily="34" charset="0"/>
              <a:buChar char="⁻"/>
            </a:pPr>
            <a:r>
              <a:rPr lang="en-US" dirty="0"/>
              <a:t>Authorization</a:t>
            </a:r>
          </a:p>
          <a:p>
            <a:pPr>
              <a:lnSpc>
                <a:spcPct val="100000"/>
              </a:lnSpc>
              <a:spcBef>
                <a:spcPts val="0"/>
              </a:spcBef>
              <a:buFont typeface="Calibri" panose="020F0502020204030204" pitchFamily="34" charset="0"/>
              <a:buChar char="⁻"/>
            </a:pPr>
            <a:r>
              <a:rPr lang="en-US" dirty="0"/>
              <a:t>Path Parameter (Optional)</a:t>
            </a:r>
          </a:p>
          <a:p>
            <a:pPr>
              <a:lnSpc>
                <a:spcPct val="100000"/>
              </a:lnSpc>
              <a:spcBef>
                <a:spcPts val="0"/>
              </a:spcBef>
              <a:buFont typeface="Calibri" panose="020F0502020204030204" pitchFamily="34" charset="0"/>
              <a:buChar char="⁻"/>
            </a:pPr>
            <a:r>
              <a:rPr lang="en-US" dirty="0"/>
              <a:t>Accept Header (Optional)</a:t>
            </a:r>
          </a:p>
          <a:p>
            <a:pPr>
              <a:lnSpc>
                <a:spcPct val="100000"/>
              </a:lnSpc>
              <a:spcBef>
                <a:spcPts val="0"/>
              </a:spcBef>
              <a:buFont typeface="Calibri" panose="020F0502020204030204" pitchFamily="34" charset="0"/>
              <a:buChar char="⁻"/>
            </a:pPr>
            <a:r>
              <a:rPr lang="en-US" dirty="0"/>
              <a:t>Body as File (Store the request body JSON in the File and send location of the same in the body method.)</a:t>
            </a:r>
          </a:p>
          <a:p>
            <a:pPr>
              <a:lnSpc>
                <a:spcPct val="100000"/>
              </a:lnSpc>
              <a:spcBef>
                <a:spcPts val="0"/>
              </a:spcBef>
              <a:buFont typeface="Calibri" panose="020F0502020204030204" pitchFamily="34" charset="0"/>
              <a:buChar char="⁻"/>
            </a:pPr>
            <a:r>
              <a:rPr lang="en-US" dirty="0"/>
              <a:t>POST method</a:t>
            </a:r>
          </a:p>
        </p:txBody>
      </p:sp>
    </p:spTree>
    <p:extLst>
      <p:ext uri="{BB962C8B-B14F-4D97-AF65-F5344CB8AC3E}">
        <p14:creationId xmlns:p14="http://schemas.microsoft.com/office/powerpoint/2010/main" val="2291192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71040-4DFC-EF3C-5194-EC9A4A35A2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F0856F5-19AC-A82C-3B98-03F65A12E7F4}"/>
              </a:ext>
            </a:extLst>
          </p:cNvPr>
          <p:cNvSpPr txBox="1"/>
          <p:nvPr/>
        </p:nvSpPr>
        <p:spPr>
          <a:xfrm>
            <a:off x="5640355" y="2971800"/>
            <a:ext cx="914400" cy="914400"/>
          </a:xfrm>
          <a:prstGeom prst="rect">
            <a:avLst/>
          </a:prstGeom>
          <a:noFill/>
        </p:spPr>
        <p:txBody>
          <a:bodyPr wrap="square" rtlCol="0">
            <a:spAutoFit/>
          </a:bodyPr>
          <a:lstStyle/>
          <a:p>
            <a:endParaRPr lang="en-IN" dirty="0"/>
          </a:p>
        </p:txBody>
      </p:sp>
      <p:sp>
        <p:nvSpPr>
          <p:cNvPr id="3" name="TextBox 2">
            <a:extLst>
              <a:ext uri="{FF2B5EF4-FFF2-40B4-BE49-F238E27FC236}">
                <a16:creationId xmlns:a16="http://schemas.microsoft.com/office/drawing/2014/main" id="{903E11BC-3E02-56E3-F2D6-40F4DE4323D9}"/>
              </a:ext>
            </a:extLst>
          </p:cNvPr>
          <p:cNvSpPr txBox="1"/>
          <p:nvPr/>
        </p:nvSpPr>
        <p:spPr>
          <a:xfrm>
            <a:off x="207606" y="0"/>
            <a:ext cx="10865498" cy="5909310"/>
          </a:xfrm>
          <a:prstGeom prst="rect">
            <a:avLst/>
          </a:prstGeom>
          <a:noFill/>
        </p:spPr>
        <p:txBody>
          <a:bodyPr wrap="square" rtlCol="0">
            <a:spAutoFit/>
          </a:bodyPr>
          <a:lstStyle/>
          <a:p>
            <a:r>
              <a:rPr lang="en-IN" dirty="0"/>
              <a:t>RestAssured.given()</a:t>
            </a:r>
          </a:p>
          <a:p>
            <a:r>
              <a:rPr lang="en-IN" dirty="0"/>
              <a:t>             </a:t>
            </a:r>
            <a:r>
              <a:rPr lang="en-IN" dirty="0">
                <a:solidFill>
                  <a:srgbClr val="FFFF00"/>
                </a:solidFill>
              </a:rPr>
              <a:t>// To define the base Uniform Resource Identifier (URI)</a:t>
            </a:r>
          </a:p>
          <a:p>
            <a:r>
              <a:rPr lang="en-IN" dirty="0"/>
              <a:t>            .baseUri("https://dev214352.service-now.com")</a:t>
            </a:r>
          </a:p>
          <a:p>
            <a:r>
              <a:rPr lang="en-IN" dirty="0"/>
              <a:t>             </a:t>
            </a:r>
            <a:r>
              <a:rPr lang="en-IN" dirty="0">
                <a:solidFill>
                  <a:srgbClr val="FFFF00"/>
                </a:solidFill>
              </a:rPr>
              <a:t>// </a:t>
            </a:r>
            <a:r>
              <a:rPr lang="en-US" dirty="0">
                <a:solidFill>
                  <a:srgbClr val="FFFF00"/>
                </a:solidFill>
              </a:rPr>
              <a:t>To define a common path segment that will be prepended to the path of all subsequent requests</a:t>
            </a:r>
            <a:endParaRPr lang="en-IN" dirty="0">
              <a:solidFill>
                <a:srgbClr val="FFFF00"/>
              </a:solidFill>
            </a:endParaRPr>
          </a:p>
          <a:p>
            <a:r>
              <a:rPr lang="en-IN" dirty="0"/>
              <a:t>            .basePath("/api/now/table")</a:t>
            </a:r>
          </a:p>
          <a:p>
            <a:r>
              <a:rPr lang="en-IN" dirty="0"/>
              <a:t>             </a:t>
            </a:r>
            <a:r>
              <a:rPr lang="en-IN" dirty="0">
                <a:solidFill>
                  <a:srgbClr val="FFFF00"/>
                </a:solidFill>
              </a:rPr>
              <a:t>// Request header for </a:t>
            </a:r>
            <a:r>
              <a:rPr lang="en-US" dirty="0">
                <a:solidFill>
                  <a:srgbClr val="FFFF00"/>
                </a:solidFill>
              </a:rPr>
              <a:t>specifying the type of content that can be accepted in a response</a:t>
            </a:r>
            <a:endParaRPr lang="en-IN" dirty="0">
              <a:solidFill>
                <a:srgbClr val="FFFF00"/>
              </a:solidFill>
            </a:endParaRPr>
          </a:p>
          <a:p>
            <a:r>
              <a:rPr lang="en-IN" dirty="0"/>
              <a:t>            .header("Accept", "application/json")</a:t>
            </a:r>
          </a:p>
          <a:p>
            <a:r>
              <a:rPr lang="en-IN" dirty="0"/>
              <a:t>             </a:t>
            </a:r>
            <a:r>
              <a:rPr lang="en-IN" dirty="0">
                <a:solidFill>
                  <a:srgbClr val="FFFF00"/>
                </a:solidFill>
              </a:rPr>
              <a:t>// To set the Path parameter which mentioned in the path of the endpoint</a:t>
            </a:r>
          </a:p>
          <a:p>
            <a:r>
              <a:rPr lang="en-IN" dirty="0"/>
              <a:t>            .pathParam("tableName", " incident")</a:t>
            </a:r>
          </a:p>
          <a:p>
            <a:r>
              <a:rPr lang="en-IN" dirty="0"/>
              <a:t>            .when()</a:t>
            </a:r>
          </a:p>
          <a:p>
            <a:r>
              <a:rPr lang="en-IN" dirty="0"/>
              <a:t>             </a:t>
            </a:r>
            <a:r>
              <a:rPr lang="en-IN" dirty="0">
                <a:solidFill>
                  <a:srgbClr val="FFFF00"/>
                </a:solidFill>
              </a:rPr>
              <a:t>// T</a:t>
            </a:r>
            <a:r>
              <a:rPr lang="en-US" dirty="0">
                <a:solidFill>
                  <a:srgbClr val="FFFF00"/>
                </a:solidFill>
              </a:rPr>
              <a:t>he request body that will be sent with an HTTP request, typically for methods like POST, PUT, or PATCH</a:t>
            </a:r>
            <a:endParaRPr lang="en-IN" dirty="0">
              <a:solidFill>
                <a:srgbClr val="FFFF00"/>
              </a:solidFill>
            </a:endParaRPr>
          </a:p>
          <a:p>
            <a:r>
              <a:rPr lang="en-IN" dirty="0"/>
              <a:t>            .body(new File(“JSON file location”))</a:t>
            </a:r>
          </a:p>
          <a:p>
            <a:r>
              <a:rPr lang="en-IN" dirty="0">
                <a:solidFill>
                  <a:srgbClr val="FFFF00"/>
                </a:solidFill>
              </a:rPr>
              <a:t>             // Endpoint for fetching all incident records</a:t>
            </a:r>
            <a:r>
              <a:rPr lang="en-IN" dirty="0"/>
              <a:t> </a:t>
            </a:r>
          </a:p>
          <a:p>
            <a:r>
              <a:rPr lang="en-IN" dirty="0"/>
              <a:t>            .post("/{tableName}")</a:t>
            </a:r>
          </a:p>
          <a:p>
            <a:r>
              <a:rPr lang="en-IN" dirty="0"/>
              <a:t>            .then().assertThat()</a:t>
            </a:r>
          </a:p>
          <a:p>
            <a:r>
              <a:rPr lang="en-IN" dirty="0"/>
              <a:t>              </a:t>
            </a:r>
            <a:r>
              <a:rPr lang="en-IN" dirty="0">
                <a:solidFill>
                  <a:srgbClr val="FFFF00"/>
                </a:solidFill>
              </a:rPr>
              <a:t>// Assert response status code</a:t>
            </a:r>
          </a:p>
          <a:p>
            <a:r>
              <a:rPr lang="en-IN" dirty="0"/>
              <a:t>            . statusCode(Matchers.</a:t>
            </a:r>
            <a:r>
              <a:rPr lang="en-IN" i="1" dirty="0"/>
              <a:t>equalTo</a:t>
            </a:r>
            <a:r>
              <a:rPr lang="en-IN" dirty="0"/>
              <a:t>(201))</a:t>
            </a:r>
          </a:p>
          <a:p>
            <a:r>
              <a:rPr lang="en-IN" dirty="0"/>
              <a:t>             </a:t>
            </a:r>
            <a:r>
              <a:rPr lang="en-IN" dirty="0">
                <a:solidFill>
                  <a:srgbClr val="FFFF00"/>
                </a:solidFill>
              </a:rPr>
              <a:t>// Assert response status name</a:t>
            </a:r>
            <a:r>
              <a:rPr lang="en-IN" dirty="0"/>
              <a:t>  </a:t>
            </a:r>
          </a:p>
          <a:p>
            <a:r>
              <a:rPr lang="en-IN" dirty="0"/>
              <a:t>            .statusLine(Matchers.containsString(“Created”)); </a:t>
            </a:r>
          </a:p>
          <a:p>
            <a:r>
              <a:rPr lang="en-IN" dirty="0"/>
              <a:t>             </a:t>
            </a:r>
            <a:r>
              <a:rPr lang="en-IN" dirty="0">
                <a:solidFill>
                  <a:srgbClr val="FFFF00"/>
                </a:solidFill>
              </a:rPr>
              <a:t>// Assert the response is in the JSON format  </a:t>
            </a:r>
          </a:p>
          <a:p>
            <a:r>
              <a:rPr lang="en-IN" dirty="0"/>
              <a:t>            .contentType(Matchers.ContainsString(“application/json”));</a:t>
            </a:r>
          </a:p>
        </p:txBody>
      </p:sp>
    </p:spTree>
    <p:extLst>
      <p:ext uri="{BB962C8B-B14F-4D97-AF65-F5344CB8AC3E}">
        <p14:creationId xmlns:p14="http://schemas.microsoft.com/office/powerpoint/2010/main" val="4035023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B5D7F-7D6F-CEB0-4445-114391348B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127330-565F-37DB-D873-1B8C53F6B465}"/>
              </a:ext>
            </a:extLst>
          </p:cNvPr>
          <p:cNvSpPr>
            <a:spLocks noGrp="1"/>
          </p:cNvSpPr>
          <p:nvPr>
            <p:ph type="title"/>
          </p:nvPr>
        </p:nvSpPr>
        <p:spPr>
          <a:xfrm>
            <a:off x="108155" y="137146"/>
            <a:ext cx="7694818" cy="1325563"/>
          </a:xfrm>
        </p:spPr>
        <p:txBody>
          <a:bodyPr>
            <a:normAutofit/>
          </a:bodyPr>
          <a:lstStyle/>
          <a:p>
            <a:r>
              <a:rPr lang="en-US" sz="5400" b="1" dirty="0">
                <a:latin typeface="+mn-lt"/>
              </a:rPr>
              <a:t>API Response</a:t>
            </a:r>
          </a:p>
        </p:txBody>
      </p:sp>
      <p:sp>
        <p:nvSpPr>
          <p:cNvPr id="3" name="Content Placeholder 2">
            <a:extLst>
              <a:ext uri="{FF2B5EF4-FFF2-40B4-BE49-F238E27FC236}">
                <a16:creationId xmlns:a16="http://schemas.microsoft.com/office/drawing/2014/main" id="{3C877F85-67A3-AD2D-E742-CC41AC3D9BCB}"/>
              </a:ext>
            </a:extLst>
          </p:cNvPr>
          <p:cNvSpPr>
            <a:spLocks noGrp="1"/>
          </p:cNvSpPr>
          <p:nvPr>
            <p:ph idx="1"/>
          </p:nvPr>
        </p:nvSpPr>
        <p:spPr>
          <a:xfrm>
            <a:off x="108155" y="1605634"/>
            <a:ext cx="9065342" cy="3723449"/>
          </a:xfrm>
        </p:spPr>
        <p:txBody>
          <a:bodyPr>
            <a:normAutofit/>
          </a:bodyPr>
          <a:lstStyle/>
          <a:p>
            <a:pPr>
              <a:lnSpc>
                <a:spcPct val="100000"/>
              </a:lnSpc>
              <a:spcBef>
                <a:spcPts val="0"/>
              </a:spcBef>
              <a:buFont typeface="Calibri" panose="020F0502020204030204" pitchFamily="34" charset="0"/>
              <a:buChar char="⁻"/>
            </a:pPr>
            <a:r>
              <a:rPr lang="en-US" dirty="0"/>
              <a:t>HTTP Status Code</a:t>
            </a:r>
          </a:p>
          <a:p>
            <a:pPr>
              <a:lnSpc>
                <a:spcPct val="100000"/>
              </a:lnSpc>
              <a:spcBef>
                <a:spcPts val="0"/>
              </a:spcBef>
              <a:buFont typeface="Calibri" panose="020F0502020204030204" pitchFamily="34" charset="0"/>
              <a:buChar char="⁻"/>
            </a:pPr>
            <a:r>
              <a:rPr lang="en-US" dirty="0"/>
              <a:t>HTTP Status Name</a:t>
            </a:r>
          </a:p>
          <a:p>
            <a:pPr>
              <a:lnSpc>
                <a:spcPct val="100000"/>
              </a:lnSpc>
              <a:spcBef>
                <a:spcPts val="0"/>
              </a:spcBef>
              <a:buFont typeface="Calibri" panose="020F0502020204030204" pitchFamily="34" charset="0"/>
              <a:buChar char="⁻"/>
            </a:pPr>
            <a:r>
              <a:rPr lang="en-US" dirty="0"/>
              <a:t>Header</a:t>
            </a:r>
          </a:p>
          <a:p>
            <a:pPr>
              <a:lnSpc>
                <a:spcPct val="100000"/>
              </a:lnSpc>
              <a:spcBef>
                <a:spcPts val="0"/>
              </a:spcBef>
              <a:buFont typeface="Calibri" panose="020F0502020204030204" pitchFamily="34" charset="0"/>
              <a:buChar char="⁻"/>
            </a:pPr>
            <a:r>
              <a:rPr lang="en-US" dirty="0"/>
              <a:t>Response Body</a:t>
            </a:r>
          </a:p>
        </p:txBody>
      </p:sp>
    </p:spTree>
    <p:extLst>
      <p:ext uri="{BB962C8B-B14F-4D97-AF65-F5344CB8AC3E}">
        <p14:creationId xmlns:p14="http://schemas.microsoft.com/office/powerpoint/2010/main" val="35795646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CC1AE-7DD9-8E10-C1EC-CDE9ABD7453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78E5074-8C20-AC81-6174-D7F5E11D0D06}"/>
              </a:ext>
            </a:extLst>
          </p:cNvPr>
          <p:cNvSpPr txBox="1">
            <a:spLocks/>
          </p:cNvSpPr>
          <p:nvPr/>
        </p:nvSpPr>
        <p:spPr>
          <a:xfrm>
            <a:off x="102637" y="420777"/>
            <a:ext cx="6680718" cy="978815"/>
          </a:xfrm>
          <a:prstGeom prst="rect">
            <a:avLst/>
          </a:prstGeom>
        </p:spPr>
        <p:txBody>
          <a:bodyP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5400" b="1" dirty="0">
                <a:latin typeface="+mn-lt"/>
              </a:rPr>
              <a:t>Hamcrest Matches</a:t>
            </a:r>
          </a:p>
        </p:txBody>
      </p:sp>
      <p:sp>
        <p:nvSpPr>
          <p:cNvPr id="5" name="TextBox 4">
            <a:extLst>
              <a:ext uri="{FF2B5EF4-FFF2-40B4-BE49-F238E27FC236}">
                <a16:creationId xmlns:a16="http://schemas.microsoft.com/office/drawing/2014/main" id="{A4B46267-020B-73E2-11A5-4354684451D8}"/>
              </a:ext>
            </a:extLst>
          </p:cNvPr>
          <p:cNvSpPr txBox="1"/>
          <p:nvPr/>
        </p:nvSpPr>
        <p:spPr>
          <a:xfrm>
            <a:off x="0" y="1593026"/>
            <a:ext cx="10707329" cy="2542363"/>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IN" dirty="0">
                <a:solidFill>
                  <a:schemeClr val="accent5">
                    <a:lumMod val="60000"/>
                    <a:lumOff val="40000"/>
                  </a:schemeClr>
                </a:solidFill>
              </a:rPr>
              <a:t>contentType(Matchers.ContainsString(“application/json”));</a:t>
            </a:r>
          </a:p>
          <a:p>
            <a:pPr algn="just">
              <a:lnSpc>
                <a:spcPct val="150000"/>
              </a:lnSpc>
            </a:pPr>
            <a:endParaRPr lang="en-IN" dirty="0">
              <a:solidFill>
                <a:schemeClr val="accent5">
                  <a:lumMod val="60000"/>
                  <a:lumOff val="40000"/>
                </a:schemeClr>
              </a:solidFill>
            </a:endParaRPr>
          </a:p>
          <a:p>
            <a:pPr marL="742950" lvl="1" indent="-285750" algn="just">
              <a:lnSpc>
                <a:spcPct val="150000"/>
              </a:lnSpc>
              <a:buFont typeface="Wingdings" panose="05000000000000000000" pitchFamily="2" charset="2"/>
              <a:buChar char="Ø"/>
            </a:pPr>
            <a:r>
              <a:rPr lang="en-US" dirty="0"/>
              <a:t> containsString(“Created”) matcher used to assert that a given string contains a specified substring.</a:t>
            </a:r>
          </a:p>
          <a:p>
            <a:pPr lvl="1" algn="just">
              <a:lnSpc>
                <a:spcPct val="150000"/>
              </a:lnSpc>
            </a:pPr>
            <a:endParaRPr lang="en-US" dirty="0"/>
          </a:p>
          <a:p>
            <a:pPr marL="742950" lvl="1" indent="-285750" algn="just">
              <a:lnSpc>
                <a:spcPct val="150000"/>
              </a:lnSpc>
              <a:buFont typeface="Wingdings" panose="05000000000000000000" pitchFamily="2" charset="2"/>
              <a:buChar char="Ø"/>
            </a:pPr>
            <a:r>
              <a:rPr lang="en-US" dirty="0"/>
              <a:t> Validate the Content-Type header contains the substring “</a:t>
            </a:r>
            <a:r>
              <a:rPr lang="en-US" dirty="0">
                <a:solidFill>
                  <a:srgbClr val="92D050"/>
                </a:solidFill>
              </a:rPr>
              <a:t>application/json</a:t>
            </a:r>
            <a:r>
              <a:rPr lang="en-US" dirty="0"/>
              <a:t>” with in the “</a:t>
            </a:r>
            <a:r>
              <a:rPr lang="en-US" dirty="0">
                <a:solidFill>
                  <a:srgbClr val="92D050"/>
                </a:solidFill>
              </a:rPr>
              <a:t>application/json;charset=UTF-8</a:t>
            </a:r>
            <a:r>
              <a:rPr lang="en-US" dirty="0"/>
              <a:t>”</a:t>
            </a:r>
            <a:r>
              <a:rPr lang="en-US" dirty="0">
                <a:solidFill>
                  <a:srgbClr val="92D050"/>
                </a:solidFill>
              </a:rPr>
              <a:t> </a:t>
            </a:r>
            <a:r>
              <a:rPr lang="en-US" dirty="0"/>
              <a:t>string.</a:t>
            </a:r>
          </a:p>
        </p:txBody>
      </p:sp>
    </p:spTree>
    <p:extLst>
      <p:ext uri="{BB962C8B-B14F-4D97-AF65-F5344CB8AC3E}">
        <p14:creationId xmlns:p14="http://schemas.microsoft.com/office/powerpoint/2010/main" val="1328981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2FFCA-C72D-0E1C-7FE2-41615191F8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858552-EDB5-4C96-29B9-9505D2BAE6C4}"/>
              </a:ext>
            </a:extLst>
          </p:cNvPr>
          <p:cNvSpPr>
            <a:spLocks noGrp="1"/>
          </p:cNvSpPr>
          <p:nvPr>
            <p:ph type="ctrTitle"/>
          </p:nvPr>
        </p:nvSpPr>
        <p:spPr>
          <a:xfrm>
            <a:off x="2552700" y="200025"/>
            <a:ext cx="8887343" cy="3364612"/>
          </a:xfrm>
        </p:spPr>
        <p:txBody>
          <a:bodyPr/>
          <a:lstStyle/>
          <a:p>
            <a:r>
              <a:rPr lang="en-US" dirty="0"/>
              <a:t>Send</a:t>
            </a:r>
            <a:r>
              <a:rPr lang="en-US" b="1" dirty="0">
                <a:solidFill>
                  <a:srgbClr val="92D050"/>
                </a:solidFill>
              </a:rPr>
              <a:t> Post</a:t>
            </a:r>
            <a:r>
              <a:rPr lang="en-US" dirty="0"/>
              <a:t> request with </a:t>
            </a:r>
            <a:r>
              <a:rPr lang="en-US" b="1" dirty="0">
                <a:solidFill>
                  <a:srgbClr val="92D050"/>
                </a:solidFill>
              </a:rPr>
              <a:t>Request Body </a:t>
            </a:r>
            <a:r>
              <a:rPr lang="en-US" dirty="0"/>
              <a:t>as </a:t>
            </a:r>
            <a:r>
              <a:rPr lang="en-US" b="1" dirty="0">
                <a:solidFill>
                  <a:srgbClr val="92D050"/>
                </a:solidFill>
              </a:rPr>
              <a:t>POJO Object</a:t>
            </a:r>
            <a:r>
              <a:rPr lang="en-US" dirty="0"/>
              <a:t> </a:t>
            </a:r>
            <a:endParaRPr lang="en-IN" dirty="0"/>
          </a:p>
        </p:txBody>
      </p:sp>
      <p:sp>
        <p:nvSpPr>
          <p:cNvPr id="3" name="Subtitle 2">
            <a:extLst>
              <a:ext uri="{FF2B5EF4-FFF2-40B4-BE49-F238E27FC236}">
                <a16:creationId xmlns:a16="http://schemas.microsoft.com/office/drawing/2014/main" id="{4D3EAD09-4A99-C277-6751-90C8B90AC0B3}"/>
              </a:ext>
            </a:extLst>
          </p:cNvPr>
          <p:cNvSpPr>
            <a:spLocks noGrp="1"/>
          </p:cNvSpPr>
          <p:nvPr>
            <p:ph type="subTitle" idx="1"/>
          </p:nvPr>
        </p:nvSpPr>
        <p:spPr>
          <a:xfrm>
            <a:off x="4242317" y="3564639"/>
            <a:ext cx="7044808" cy="493012"/>
          </a:xfrm>
        </p:spPr>
        <p:txBody>
          <a:bodyPr/>
          <a:lstStyle/>
          <a:p>
            <a:r>
              <a:rPr lang="en-US" b="1" dirty="0">
                <a:solidFill>
                  <a:srgbClr val="92D050"/>
                </a:solidFill>
              </a:rPr>
              <a:t>Rest Assured Library</a:t>
            </a:r>
            <a:endParaRPr lang="en-IN" b="1" dirty="0">
              <a:solidFill>
                <a:srgbClr val="92D050"/>
              </a:solidFill>
            </a:endParaRPr>
          </a:p>
        </p:txBody>
      </p:sp>
    </p:spTree>
    <p:extLst>
      <p:ext uri="{BB962C8B-B14F-4D97-AF65-F5344CB8AC3E}">
        <p14:creationId xmlns:p14="http://schemas.microsoft.com/office/powerpoint/2010/main" val="7794830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05467-5D78-AF3D-91AE-ABEA94E63D0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325865EE-D883-DE99-5059-1776F28ABAF0}"/>
              </a:ext>
            </a:extLst>
          </p:cNvPr>
          <p:cNvSpPr/>
          <p:nvPr/>
        </p:nvSpPr>
        <p:spPr>
          <a:xfrm>
            <a:off x="327892" y="1617756"/>
            <a:ext cx="3014639" cy="840802"/>
          </a:xfrm>
          <a:prstGeom prst="rect">
            <a:avLst/>
          </a:prstGeom>
          <a:solidFill>
            <a:srgbClr val="0070C0"/>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Given</a:t>
            </a:r>
          </a:p>
        </p:txBody>
      </p:sp>
      <p:sp>
        <p:nvSpPr>
          <p:cNvPr id="12" name="Rectangle 11">
            <a:extLst>
              <a:ext uri="{FF2B5EF4-FFF2-40B4-BE49-F238E27FC236}">
                <a16:creationId xmlns:a16="http://schemas.microsoft.com/office/drawing/2014/main" id="{B0DC9ECD-C4D9-81D8-0FEB-EFC8EC3DB6FE}"/>
              </a:ext>
            </a:extLst>
          </p:cNvPr>
          <p:cNvSpPr/>
          <p:nvPr/>
        </p:nvSpPr>
        <p:spPr>
          <a:xfrm>
            <a:off x="3460953" y="1617756"/>
            <a:ext cx="3014639" cy="840802"/>
          </a:xfrm>
          <a:prstGeom prst="rect">
            <a:avLst/>
          </a:prstGeom>
          <a:solidFill>
            <a:srgbClr val="0070C0"/>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Specify Prerequisites</a:t>
            </a:r>
          </a:p>
        </p:txBody>
      </p:sp>
      <p:sp>
        <p:nvSpPr>
          <p:cNvPr id="13" name="Rectangle 12">
            <a:extLst>
              <a:ext uri="{FF2B5EF4-FFF2-40B4-BE49-F238E27FC236}">
                <a16:creationId xmlns:a16="http://schemas.microsoft.com/office/drawing/2014/main" id="{D4DE8B59-55D4-5450-E002-5CF7CF54AD70}"/>
              </a:ext>
            </a:extLst>
          </p:cNvPr>
          <p:cNvSpPr/>
          <p:nvPr/>
        </p:nvSpPr>
        <p:spPr>
          <a:xfrm>
            <a:off x="3460953" y="2588198"/>
            <a:ext cx="3014639" cy="711162"/>
          </a:xfrm>
          <a:prstGeom prst="rect">
            <a:avLst/>
          </a:prstGeom>
          <a:solidFill>
            <a:srgbClr val="4472C4"/>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header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43DBAA96-EAC0-5FF8-5657-B85A0493CBC6}"/>
              </a:ext>
            </a:extLst>
          </p:cNvPr>
          <p:cNvSpPr/>
          <p:nvPr/>
        </p:nvSpPr>
        <p:spPr>
          <a:xfrm>
            <a:off x="3460953" y="3299360"/>
            <a:ext cx="3014639" cy="1100082"/>
          </a:xfrm>
          <a:prstGeom prst="rect">
            <a:avLst/>
          </a:prstGeom>
          <a:solidFill>
            <a:srgbClr val="39C1D7"/>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body</a:t>
            </a:r>
          </a:p>
        </p:txBody>
      </p:sp>
      <p:sp>
        <p:nvSpPr>
          <p:cNvPr id="15" name="Rectangle 14">
            <a:extLst>
              <a:ext uri="{FF2B5EF4-FFF2-40B4-BE49-F238E27FC236}">
                <a16:creationId xmlns:a16="http://schemas.microsoft.com/office/drawing/2014/main" id="{69422C24-30C0-F57E-7C43-19CEF426C1B6}"/>
              </a:ext>
            </a:extLst>
          </p:cNvPr>
          <p:cNvSpPr/>
          <p:nvPr/>
        </p:nvSpPr>
        <p:spPr>
          <a:xfrm>
            <a:off x="6594849" y="3299360"/>
            <a:ext cx="5273877" cy="1100082"/>
          </a:xfrm>
          <a:prstGeom prst="rect">
            <a:avLst/>
          </a:prstGeom>
          <a:solidFill>
            <a:srgbClr val="0070C0"/>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defRPr/>
            </a:pPr>
            <a:r>
              <a:rPr lang="en-US" sz="2400" dirty="0"/>
              <a:t>Send</a:t>
            </a:r>
            <a:r>
              <a:rPr lang="en-US" sz="2400" b="1" dirty="0">
                <a:solidFill>
                  <a:srgbClr val="92D050"/>
                </a:solidFill>
              </a:rPr>
              <a:t> Post</a:t>
            </a:r>
            <a:r>
              <a:rPr lang="en-US" sz="2400" dirty="0"/>
              <a:t> request with </a:t>
            </a:r>
            <a:r>
              <a:rPr lang="en-US" sz="2400" b="1" dirty="0">
                <a:solidFill>
                  <a:srgbClr val="92D050"/>
                </a:solidFill>
              </a:rPr>
              <a:t>Request Body </a:t>
            </a:r>
            <a:r>
              <a:rPr lang="en-US" sz="2400" dirty="0"/>
              <a:t>as a </a:t>
            </a:r>
            <a:r>
              <a:rPr lang="en-US" sz="2400" b="1" dirty="0">
                <a:solidFill>
                  <a:srgbClr val="92D050"/>
                </a:solidFill>
              </a:rPr>
              <a:t>POJO Object</a:t>
            </a:r>
            <a:r>
              <a:rPr lang="en-US" sz="2400" dirty="0"/>
              <a:t> </a:t>
            </a:r>
            <a:endPar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1FB025CC-CEF1-AEB2-9262-4E8F7D5F5911}"/>
              </a:ext>
            </a:extLst>
          </p:cNvPr>
          <p:cNvSpPr/>
          <p:nvPr/>
        </p:nvSpPr>
        <p:spPr>
          <a:xfrm>
            <a:off x="3460953" y="4399442"/>
            <a:ext cx="3014639" cy="1049682"/>
          </a:xfrm>
          <a:prstGeom prst="rect">
            <a:avLst/>
          </a:prstGeom>
          <a:solidFill>
            <a:srgbClr val="39C1D7"/>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prstClr val="white"/>
                </a:solidFill>
                <a:latin typeface="Calibri" panose="020F0502020204030204"/>
              </a:rPr>
              <a:t>g</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et method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37948301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E6240-DF33-C803-4AC6-9A73321A9F91}"/>
              </a:ext>
            </a:extLst>
          </p:cNvPr>
          <p:cNvSpPr txBox="1">
            <a:spLocks/>
          </p:cNvSpPr>
          <p:nvPr/>
        </p:nvSpPr>
        <p:spPr>
          <a:xfrm>
            <a:off x="127819" y="215805"/>
            <a:ext cx="7694818" cy="1325563"/>
          </a:xfrm>
          <a:prstGeom prst="rect">
            <a:avLst/>
          </a:prstGeom>
        </p:spPr>
        <p:txBody>
          <a:bodyP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5400" b="1" dirty="0">
                <a:latin typeface="+mn-lt"/>
              </a:rPr>
              <a:t>What is </a:t>
            </a:r>
            <a:r>
              <a:rPr lang="en-US" sz="5400" b="1" dirty="0">
                <a:solidFill>
                  <a:srgbClr val="92D050"/>
                </a:solidFill>
                <a:latin typeface="+mn-lt"/>
              </a:rPr>
              <a:t>pojo</a:t>
            </a:r>
            <a:r>
              <a:rPr lang="en-US" sz="5400" b="1" dirty="0">
                <a:latin typeface="+mn-lt"/>
              </a:rPr>
              <a:t>?</a:t>
            </a:r>
          </a:p>
        </p:txBody>
      </p:sp>
      <p:sp>
        <p:nvSpPr>
          <p:cNvPr id="3" name="Content Placeholder 2">
            <a:extLst>
              <a:ext uri="{FF2B5EF4-FFF2-40B4-BE49-F238E27FC236}">
                <a16:creationId xmlns:a16="http://schemas.microsoft.com/office/drawing/2014/main" id="{8AC07A03-AB5E-643E-2315-8DD8439D993F}"/>
              </a:ext>
            </a:extLst>
          </p:cNvPr>
          <p:cNvSpPr txBox="1">
            <a:spLocks/>
          </p:cNvSpPr>
          <p:nvPr/>
        </p:nvSpPr>
        <p:spPr>
          <a:xfrm>
            <a:off x="127819" y="1446651"/>
            <a:ext cx="10274710" cy="3964697"/>
          </a:xfrm>
          <a:prstGeom prst="rect">
            <a:avLst/>
          </a:prstGeom>
        </p:spPr>
        <p:txBody>
          <a:bodyP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endParaRPr lang="en-US" dirty="0"/>
          </a:p>
        </p:txBody>
      </p:sp>
      <p:sp>
        <p:nvSpPr>
          <p:cNvPr id="5" name="TextBox 4">
            <a:extLst>
              <a:ext uri="{FF2B5EF4-FFF2-40B4-BE49-F238E27FC236}">
                <a16:creationId xmlns:a16="http://schemas.microsoft.com/office/drawing/2014/main" id="{A61F41EA-9518-C212-547B-50564DAF39EC}"/>
              </a:ext>
            </a:extLst>
          </p:cNvPr>
          <p:cNvSpPr txBox="1"/>
          <p:nvPr/>
        </p:nvSpPr>
        <p:spPr>
          <a:xfrm>
            <a:off x="127819" y="1265962"/>
            <a:ext cx="10997381" cy="4619854"/>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IN" dirty="0"/>
              <a:t>A </a:t>
            </a:r>
            <a:r>
              <a:rPr lang="en-IN" dirty="0">
                <a:solidFill>
                  <a:srgbClr val="92D050"/>
                </a:solidFill>
              </a:rPr>
              <a:t>POJO (Plain Old Java Object) </a:t>
            </a:r>
            <a:r>
              <a:rPr lang="en-IN" dirty="0"/>
              <a:t>class in Java is a simple, standard Java class that represents a data structure. </a:t>
            </a:r>
          </a:p>
          <a:p>
            <a:pPr marL="285750" indent="-285750" algn="just">
              <a:lnSpc>
                <a:spcPct val="150000"/>
              </a:lnSpc>
              <a:buFont typeface="Wingdings" panose="05000000000000000000" pitchFamily="2" charset="2"/>
              <a:buChar char="q"/>
            </a:pPr>
            <a:r>
              <a:rPr lang="en-IN" dirty="0"/>
              <a:t>It's designed to hold data and typically includes methods to access and modify that data. </a:t>
            </a:r>
          </a:p>
          <a:p>
            <a:pPr marL="285750" indent="-285750" algn="just">
              <a:lnSpc>
                <a:spcPct val="150000"/>
              </a:lnSpc>
              <a:buFont typeface="Wingdings" panose="05000000000000000000" pitchFamily="2" charset="2"/>
              <a:buChar char="q"/>
            </a:pPr>
            <a:r>
              <a:rPr lang="en-IN" dirty="0"/>
              <a:t>The term "</a:t>
            </a:r>
            <a:r>
              <a:rPr lang="en-IN" dirty="0">
                <a:solidFill>
                  <a:srgbClr val="92D050"/>
                </a:solidFill>
              </a:rPr>
              <a:t>Plain Old Java Object</a:t>
            </a:r>
            <a:r>
              <a:rPr lang="en-IN" dirty="0"/>
              <a:t>" emphasizes that it's a basic Java object without special restrictions or dependencies on specific frameworks or APIs.</a:t>
            </a:r>
          </a:p>
          <a:p>
            <a:pPr marL="285750" indent="-285750" algn="just">
              <a:lnSpc>
                <a:spcPct val="150000"/>
              </a:lnSpc>
              <a:buFont typeface="Wingdings" panose="05000000000000000000" pitchFamily="2" charset="2"/>
              <a:buChar char="q"/>
            </a:pPr>
            <a:endParaRPr lang="en-IN" dirty="0"/>
          </a:p>
          <a:p>
            <a:pPr algn="just">
              <a:lnSpc>
                <a:spcPct val="150000"/>
              </a:lnSpc>
            </a:pPr>
            <a:r>
              <a:rPr lang="en-US" dirty="0"/>
              <a:t>Key characteristics of a POJO class:</a:t>
            </a:r>
          </a:p>
          <a:p>
            <a:pPr marL="285750" indent="-285750" algn="just">
              <a:lnSpc>
                <a:spcPct val="150000"/>
              </a:lnSpc>
              <a:buFont typeface="Wingdings" panose="05000000000000000000" pitchFamily="2" charset="2"/>
              <a:buChar char="v"/>
            </a:pPr>
            <a:r>
              <a:rPr lang="en-IN" dirty="0"/>
              <a:t>Encapsulation</a:t>
            </a:r>
          </a:p>
          <a:p>
            <a:pPr marL="285750" indent="-285750" algn="just">
              <a:lnSpc>
                <a:spcPct val="150000"/>
              </a:lnSpc>
              <a:buFont typeface="Wingdings" panose="05000000000000000000" pitchFamily="2" charset="2"/>
              <a:buChar char="v"/>
            </a:pPr>
            <a:r>
              <a:rPr lang="en-IN" dirty="0"/>
              <a:t>Getters and Setters</a:t>
            </a:r>
          </a:p>
          <a:p>
            <a:pPr marL="285750" indent="-285750" algn="just">
              <a:lnSpc>
                <a:spcPct val="150000"/>
              </a:lnSpc>
              <a:buFont typeface="Wingdings" panose="05000000000000000000" pitchFamily="2" charset="2"/>
              <a:buChar char="v"/>
            </a:pPr>
            <a:r>
              <a:rPr lang="en-IN" dirty="0"/>
              <a:t>Constructors</a:t>
            </a:r>
          </a:p>
          <a:p>
            <a:pPr marL="285750" indent="-285750" algn="just">
              <a:lnSpc>
                <a:spcPct val="150000"/>
              </a:lnSpc>
              <a:buFont typeface="Wingdings" panose="05000000000000000000" pitchFamily="2" charset="2"/>
              <a:buChar char="v"/>
            </a:pPr>
            <a:r>
              <a:rPr lang="en-IN" dirty="0"/>
              <a:t>No Special Dependencies</a:t>
            </a:r>
          </a:p>
          <a:p>
            <a:pPr marL="285750" indent="-285750" algn="just">
              <a:lnSpc>
                <a:spcPct val="150000"/>
              </a:lnSpc>
              <a:buFont typeface="Wingdings" panose="05000000000000000000" pitchFamily="2" charset="2"/>
              <a:buChar char="v"/>
            </a:pPr>
            <a:r>
              <a:rPr lang="en-IN" dirty="0"/>
              <a:t>Focus on Data</a:t>
            </a:r>
          </a:p>
        </p:txBody>
      </p:sp>
    </p:spTree>
    <p:extLst>
      <p:ext uri="{BB962C8B-B14F-4D97-AF65-F5344CB8AC3E}">
        <p14:creationId xmlns:p14="http://schemas.microsoft.com/office/powerpoint/2010/main" val="41296422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A6945-7D5A-6510-B55C-71F3BFAE93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477835-BFC2-0D6B-E300-62EC9EC6C362}"/>
              </a:ext>
            </a:extLst>
          </p:cNvPr>
          <p:cNvSpPr txBox="1">
            <a:spLocks/>
          </p:cNvSpPr>
          <p:nvPr/>
        </p:nvSpPr>
        <p:spPr>
          <a:xfrm>
            <a:off x="127819" y="215805"/>
            <a:ext cx="7694818" cy="1325563"/>
          </a:xfrm>
          <a:prstGeom prst="rect">
            <a:avLst/>
          </a:prstGeom>
        </p:spPr>
        <p:txBody>
          <a:bodyP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5400" b="1" dirty="0">
                <a:latin typeface="+mn-lt"/>
              </a:rPr>
              <a:t>What is </a:t>
            </a:r>
            <a:r>
              <a:rPr lang="en-US" sz="5400" b="1" dirty="0">
                <a:solidFill>
                  <a:srgbClr val="92D050"/>
                </a:solidFill>
                <a:latin typeface="+mn-lt"/>
              </a:rPr>
              <a:t>Serialization</a:t>
            </a:r>
            <a:r>
              <a:rPr lang="en-US" sz="5400" b="1" dirty="0">
                <a:latin typeface="+mn-lt"/>
              </a:rPr>
              <a:t>?</a:t>
            </a:r>
          </a:p>
        </p:txBody>
      </p:sp>
      <p:sp>
        <p:nvSpPr>
          <p:cNvPr id="3" name="Content Placeholder 2">
            <a:extLst>
              <a:ext uri="{FF2B5EF4-FFF2-40B4-BE49-F238E27FC236}">
                <a16:creationId xmlns:a16="http://schemas.microsoft.com/office/drawing/2014/main" id="{852D498F-7561-ADB2-3128-43BBBFD70961}"/>
              </a:ext>
            </a:extLst>
          </p:cNvPr>
          <p:cNvSpPr txBox="1">
            <a:spLocks/>
          </p:cNvSpPr>
          <p:nvPr/>
        </p:nvSpPr>
        <p:spPr>
          <a:xfrm>
            <a:off x="127819" y="1446651"/>
            <a:ext cx="10274710" cy="3964697"/>
          </a:xfrm>
          <a:prstGeom prst="rect">
            <a:avLst/>
          </a:prstGeom>
        </p:spPr>
        <p:txBody>
          <a:bodyP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endParaRPr lang="en-US" dirty="0"/>
          </a:p>
        </p:txBody>
      </p:sp>
      <p:sp>
        <p:nvSpPr>
          <p:cNvPr id="5" name="TextBox 4">
            <a:extLst>
              <a:ext uri="{FF2B5EF4-FFF2-40B4-BE49-F238E27FC236}">
                <a16:creationId xmlns:a16="http://schemas.microsoft.com/office/drawing/2014/main" id="{3F64187D-7870-49E8-7E6F-832F886A6D6D}"/>
              </a:ext>
            </a:extLst>
          </p:cNvPr>
          <p:cNvSpPr txBox="1"/>
          <p:nvPr/>
        </p:nvSpPr>
        <p:spPr>
          <a:xfrm>
            <a:off x="127819" y="2205176"/>
            <a:ext cx="9892481" cy="2542363"/>
          </a:xfrm>
          <a:prstGeom prst="rect">
            <a:avLst/>
          </a:prstGeom>
          <a:noFill/>
        </p:spPr>
        <p:txBody>
          <a:bodyPr wrap="square">
            <a:spAutoFit/>
          </a:bodyPr>
          <a:lstStyle/>
          <a:p>
            <a:pPr algn="just">
              <a:lnSpc>
                <a:spcPct val="150000"/>
              </a:lnSpc>
            </a:pPr>
            <a:r>
              <a:rPr lang="en-US" dirty="0"/>
              <a:t>Serialization is the process of converting an object into a compact, portable format like a stream of bytes, JSON, or XML for storage or transmission.</a:t>
            </a:r>
          </a:p>
          <a:p>
            <a:pPr algn="just">
              <a:lnSpc>
                <a:spcPct val="150000"/>
              </a:lnSpc>
            </a:pPr>
            <a:endParaRPr lang="en-US" dirty="0"/>
          </a:p>
          <a:p>
            <a:pPr algn="just">
              <a:lnSpc>
                <a:spcPct val="150000"/>
              </a:lnSpc>
            </a:pPr>
            <a:r>
              <a:rPr lang="en-US" dirty="0"/>
              <a:t>These complementary processes enable data to be saved to a disk, sent across a network, or exchanged between applications, making complex data structures manageable for persistence and inter-process communication. </a:t>
            </a:r>
            <a:endParaRPr lang="en-IN" dirty="0"/>
          </a:p>
        </p:txBody>
      </p:sp>
    </p:spTree>
    <p:extLst>
      <p:ext uri="{BB962C8B-B14F-4D97-AF65-F5344CB8AC3E}">
        <p14:creationId xmlns:p14="http://schemas.microsoft.com/office/powerpoint/2010/main" val="13652399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397C5-1C05-AC24-4D97-91A1911696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E81B1A-0EB9-76A6-C00A-541765552687}"/>
              </a:ext>
            </a:extLst>
          </p:cNvPr>
          <p:cNvSpPr>
            <a:spLocks noGrp="1"/>
          </p:cNvSpPr>
          <p:nvPr>
            <p:ph type="ctrTitle"/>
          </p:nvPr>
        </p:nvSpPr>
        <p:spPr>
          <a:xfrm>
            <a:off x="2552700" y="200025"/>
            <a:ext cx="8887343" cy="3364612"/>
          </a:xfrm>
        </p:spPr>
        <p:txBody>
          <a:bodyPr/>
          <a:lstStyle/>
          <a:p>
            <a:r>
              <a:rPr lang="en-US" dirty="0"/>
              <a:t>Steps to </a:t>
            </a:r>
            <a:r>
              <a:rPr lang="en-US" dirty="0">
                <a:solidFill>
                  <a:srgbClr val="92D050"/>
                </a:solidFill>
              </a:rPr>
              <a:t>Create</a:t>
            </a:r>
            <a:r>
              <a:rPr lang="en-US" dirty="0"/>
              <a:t> a </a:t>
            </a:r>
            <a:r>
              <a:rPr lang="en-US" dirty="0">
                <a:solidFill>
                  <a:srgbClr val="92D050"/>
                </a:solidFill>
              </a:rPr>
              <a:t>POJO</a:t>
            </a:r>
            <a:r>
              <a:rPr lang="en-US" dirty="0"/>
              <a:t> Class in </a:t>
            </a:r>
            <a:r>
              <a:rPr lang="en-US" dirty="0">
                <a:solidFill>
                  <a:srgbClr val="92D050"/>
                </a:solidFill>
              </a:rPr>
              <a:t>Java</a:t>
            </a:r>
            <a:endParaRPr lang="en-IN" dirty="0">
              <a:solidFill>
                <a:srgbClr val="92D050"/>
              </a:solidFill>
            </a:endParaRPr>
          </a:p>
        </p:txBody>
      </p:sp>
      <p:sp>
        <p:nvSpPr>
          <p:cNvPr id="3" name="Subtitle 2">
            <a:extLst>
              <a:ext uri="{FF2B5EF4-FFF2-40B4-BE49-F238E27FC236}">
                <a16:creationId xmlns:a16="http://schemas.microsoft.com/office/drawing/2014/main" id="{30A44EB8-E77D-AE16-EA08-A75D215A3393}"/>
              </a:ext>
            </a:extLst>
          </p:cNvPr>
          <p:cNvSpPr>
            <a:spLocks noGrp="1"/>
          </p:cNvSpPr>
          <p:nvPr>
            <p:ph type="subTitle" idx="1"/>
          </p:nvPr>
        </p:nvSpPr>
        <p:spPr>
          <a:xfrm>
            <a:off x="4242317" y="3564639"/>
            <a:ext cx="7044808" cy="493012"/>
          </a:xfrm>
        </p:spPr>
        <p:txBody>
          <a:bodyPr/>
          <a:lstStyle/>
          <a:p>
            <a:r>
              <a:rPr lang="en-US" b="1" dirty="0">
                <a:solidFill>
                  <a:srgbClr val="92D050"/>
                </a:solidFill>
              </a:rPr>
              <a:t>Serialization</a:t>
            </a:r>
            <a:endParaRPr lang="en-IN" b="1" dirty="0">
              <a:solidFill>
                <a:srgbClr val="92D050"/>
              </a:solidFill>
            </a:endParaRPr>
          </a:p>
        </p:txBody>
      </p:sp>
    </p:spTree>
    <p:extLst>
      <p:ext uri="{BB962C8B-B14F-4D97-AF65-F5344CB8AC3E}">
        <p14:creationId xmlns:p14="http://schemas.microsoft.com/office/powerpoint/2010/main" val="17546046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20357-A09B-BA09-3A2D-6992A05A16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FC1D89-4083-C5A0-726C-99EEEB333D07}"/>
              </a:ext>
            </a:extLst>
          </p:cNvPr>
          <p:cNvSpPr txBox="1">
            <a:spLocks/>
          </p:cNvSpPr>
          <p:nvPr/>
        </p:nvSpPr>
        <p:spPr>
          <a:xfrm>
            <a:off x="127819" y="215805"/>
            <a:ext cx="7694818" cy="1325563"/>
          </a:xfrm>
          <a:prstGeom prst="rect">
            <a:avLst/>
          </a:prstGeom>
        </p:spPr>
        <p:txBody>
          <a:bodyP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t>Step 1) Define the Class Structure:</a:t>
            </a:r>
            <a:endParaRPr lang="en-US" sz="5400" b="1" dirty="0">
              <a:latin typeface="+mn-lt"/>
            </a:endParaRPr>
          </a:p>
        </p:txBody>
      </p:sp>
      <p:sp>
        <p:nvSpPr>
          <p:cNvPr id="3" name="Content Placeholder 2">
            <a:extLst>
              <a:ext uri="{FF2B5EF4-FFF2-40B4-BE49-F238E27FC236}">
                <a16:creationId xmlns:a16="http://schemas.microsoft.com/office/drawing/2014/main" id="{E9B4A606-76A9-0010-E82F-5E64F0CD3C28}"/>
              </a:ext>
            </a:extLst>
          </p:cNvPr>
          <p:cNvSpPr txBox="1">
            <a:spLocks/>
          </p:cNvSpPr>
          <p:nvPr/>
        </p:nvSpPr>
        <p:spPr>
          <a:xfrm>
            <a:off x="127819" y="1446651"/>
            <a:ext cx="10274710" cy="3964697"/>
          </a:xfrm>
          <a:prstGeom prst="rect">
            <a:avLst/>
          </a:prstGeom>
        </p:spPr>
        <p:txBody>
          <a:bodyP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endParaRPr lang="en-US" dirty="0"/>
          </a:p>
        </p:txBody>
      </p:sp>
      <p:sp>
        <p:nvSpPr>
          <p:cNvPr id="5" name="TextBox 4">
            <a:extLst>
              <a:ext uri="{FF2B5EF4-FFF2-40B4-BE49-F238E27FC236}">
                <a16:creationId xmlns:a16="http://schemas.microsoft.com/office/drawing/2014/main" id="{7BBE6339-AA44-F8C7-231D-0217B39E8DE4}"/>
              </a:ext>
            </a:extLst>
          </p:cNvPr>
          <p:cNvSpPr txBox="1"/>
          <p:nvPr/>
        </p:nvSpPr>
        <p:spPr>
          <a:xfrm>
            <a:off x="127819" y="1732687"/>
            <a:ext cx="10997381" cy="2542363"/>
          </a:xfrm>
          <a:prstGeom prst="rect">
            <a:avLst/>
          </a:prstGeom>
          <a:noFill/>
        </p:spPr>
        <p:txBody>
          <a:bodyPr wrap="square">
            <a:spAutoFit/>
          </a:bodyPr>
          <a:lstStyle/>
          <a:p>
            <a:pPr algn="just">
              <a:lnSpc>
                <a:spcPct val="150000"/>
              </a:lnSpc>
            </a:pPr>
            <a:r>
              <a:rPr lang="en-US" dirty="0"/>
              <a:t>Create a public class with a meaningful name that reflects the data it will hold </a:t>
            </a:r>
          </a:p>
          <a:p>
            <a:pPr algn="just">
              <a:lnSpc>
                <a:spcPct val="150000"/>
              </a:lnSpc>
            </a:pPr>
            <a:r>
              <a:rPr lang="en-US" dirty="0"/>
              <a:t>(e.g., Employee, Product, User).</a:t>
            </a:r>
          </a:p>
          <a:p>
            <a:pPr algn="just">
              <a:lnSpc>
                <a:spcPct val="150000"/>
              </a:lnSpc>
            </a:pPr>
            <a:endParaRPr lang="en-US" dirty="0"/>
          </a:p>
          <a:p>
            <a:pPr algn="just">
              <a:lnSpc>
                <a:spcPct val="150000"/>
              </a:lnSpc>
            </a:pPr>
            <a:r>
              <a:rPr lang="en-US" dirty="0">
                <a:solidFill>
                  <a:srgbClr val="92D050"/>
                </a:solidFill>
              </a:rPr>
              <a:t>public class Employee {        </a:t>
            </a:r>
          </a:p>
          <a:p>
            <a:pPr algn="just">
              <a:lnSpc>
                <a:spcPct val="150000"/>
              </a:lnSpc>
            </a:pPr>
            <a:r>
              <a:rPr lang="en-US" dirty="0">
                <a:solidFill>
                  <a:srgbClr val="92D050"/>
                </a:solidFill>
              </a:rPr>
              <a:t>        // Class members will be defined here    </a:t>
            </a:r>
          </a:p>
          <a:p>
            <a:pPr algn="just">
              <a:lnSpc>
                <a:spcPct val="150000"/>
              </a:lnSpc>
            </a:pPr>
            <a:r>
              <a:rPr lang="en-US" dirty="0">
                <a:solidFill>
                  <a:srgbClr val="92D050"/>
                </a:solidFill>
              </a:rPr>
              <a:t>}</a:t>
            </a:r>
            <a:endParaRPr lang="en-IN" dirty="0">
              <a:solidFill>
                <a:srgbClr val="92D050"/>
              </a:solidFill>
            </a:endParaRPr>
          </a:p>
        </p:txBody>
      </p:sp>
    </p:spTree>
    <p:extLst>
      <p:ext uri="{BB962C8B-B14F-4D97-AF65-F5344CB8AC3E}">
        <p14:creationId xmlns:p14="http://schemas.microsoft.com/office/powerpoint/2010/main" val="31365932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69A49-D7CC-BDBB-9BD3-5E03F15C08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AA9A2E-7440-CDD5-1E10-7E02DD7B371A}"/>
              </a:ext>
            </a:extLst>
          </p:cNvPr>
          <p:cNvSpPr txBox="1">
            <a:spLocks/>
          </p:cNvSpPr>
          <p:nvPr/>
        </p:nvSpPr>
        <p:spPr>
          <a:xfrm>
            <a:off x="127818" y="215805"/>
            <a:ext cx="9101907" cy="974819"/>
          </a:xfrm>
          <a:prstGeom prst="rect">
            <a:avLst/>
          </a:prstGeom>
        </p:spPr>
        <p:txBody>
          <a:bodyP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t>Step 2) Declare Private Fields (Attributes):</a:t>
            </a:r>
            <a:endParaRPr lang="en-US" sz="5400" b="1" dirty="0">
              <a:latin typeface="+mn-lt"/>
            </a:endParaRPr>
          </a:p>
        </p:txBody>
      </p:sp>
      <p:sp>
        <p:nvSpPr>
          <p:cNvPr id="3" name="Content Placeholder 2">
            <a:extLst>
              <a:ext uri="{FF2B5EF4-FFF2-40B4-BE49-F238E27FC236}">
                <a16:creationId xmlns:a16="http://schemas.microsoft.com/office/drawing/2014/main" id="{1D5C2EF5-96D0-9EE5-D668-8C45031646FF}"/>
              </a:ext>
            </a:extLst>
          </p:cNvPr>
          <p:cNvSpPr txBox="1">
            <a:spLocks/>
          </p:cNvSpPr>
          <p:nvPr/>
        </p:nvSpPr>
        <p:spPr>
          <a:xfrm>
            <a:off x="127819" y="1446651"/>
            <a:ext cx="10274710" cy="3964697"/>
          </a:xfrm>
          <a:prstGeom prst="rect">
            <a:avLst/>
          </a:prstGeom>
        </p:spPr>
        <p:txBody>
          <a:bodyP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endParaRPr lang="en-US" dirty="0"/>
          </a:p>
        </p:txBody>
      </p:sp>
      <p:sp>
        <p:nvSpPr>
          <p:cNvPr id="5" name="TextBox 4">
            <a:extLst>
              <a:ext uri="{FF2B5EF4-FFF2-40B4-BE49-F238E27FC236}">
                <a16:creationId xmlns:a16="http://schemas.microsoft.com/office/drawing/2014/main" id="{06C9406E-466E-9C52-E1A0-F68FC613B511}"/>
              </a:ext>
            </a:extLst>
          </p:cNvPr>
          <p:cNvSpPr txBox="1"/>
          <p:nvPr/>
        </p:nvSpPr>
        <p:spPr>
          <a:xfrm>
            <a:off x="127819" y="1732687"/>
            <a:ext cx="10997381" cy="3650358"/>
          </a:xfrm>
          <a:prstGeom prst="rect">
            <a:avLst/>
          </a:prstGeom>
          <a:noFill/>
        </p:spPr>
        <p:txBody>
          <a:bodyPr wrap="square">
            <a:spAutoFit/>
          </a:bodyPr>
          <a:lstStyle/>
          <a:p>
            <a:pPr algn="just">
              <a:lnSpc>
                <a:spcPct val="150000"/>
              </a:lnSpc>
            </a:pPr>
            <a:r>
              <a:rPr lang="en-US" dirty="0"/>
              <a:t>Declare instance variables (fields) within the class to represent the data attributes. These fields should be declared as private to enforce encapsulation, meaning they can only be accessed or modified through methods defined within the class.</a:t>
            </a:r>
          </a:p>
          <a:p>
            <a:pPr algn="just">
              <a:lnSpc>
                <a:spcPct val="150000"/>
              </a:lnSpc>
            </a:pPr>
            <a:endParaRPr lang="en-US" dirty="0"/>
          </a:p>
          <a:p>
            <a:pPr algn="just">
              <a:lnSpc>
                <a:spcPct val="150000"/>
              </a:lnSpc>
            </a:pPr>
            <a:r>
              <a:rPr lang="en-US" dirty="0">
                <a:solidFill>
                  <a:srgbClr val="92D050"/>
                </a:solidFill>
              </a:rPr>
              <a:t>public class Employee {        </a:t>
            </a:r>
          </a:p>
          <a:p>
            <a:pPr algn="just"/>
            <a:r>
              <a:rPr lang="en-US" dirty="0">
                <a:solidFill>
                  <a:srgbClr val="92D050"/>
                </a:solidFill>
              </a:rPr>
              <a:t>        </a:t>
            </a:r>
            <a:r>
              <a:rPr lang="en-IN" dirty="0">
                <a:solidFill>
                  <a:srgbClr val="92D050"/>
                </a:solidFill>
              </a:rPr>
              <a:t>private String firstName;</a:t>
            </a:r>
          </a:p>
          <a:p>
            <a:pPr algn="just"/>
            <a:r>
              <a:rPr lang="en-IN" dirty="0">
                <a:solidFill>
                  <a:srgbClr val="92D050"/>
                </a:solidFill>
              </a:rPr>
              <a:t>        private String lastName;</a:t>
            </a:r>
          </a:p>
          <a:p>
            <a:pPr algn="just"/>
            <a:r>
              <a:rPr lang="en-IN" dirty="0">
                <a:solidFill>
                  <a:srgbClr val="92D050"/>
                </a:solidFill>
              </a:rPr>
              <a:t>        private int age;</a:t>
            </a:r>
          </a:p>
          <a:p>
            <a:pPr algn="just"/>
            <a:r>
              <a:rPr lang="en-IN" dirty="0">
                <a:solidFill>
                  <a:srgbClr val="92D050"/>
                </a:solidFill>
              </a:rPr>
              <a:t>        private double salary;</a:t>
            </a:r>
            <a:endParaRPr lang="en-US" dirty="0">
              <a:solidFill>
                <a:srgbClr val="92D050"/>
              </a:solidFill>
            </a:endParaRPr>
          </a:p>
          <a:p>
            <a:pPr algn="just">
              <a:lnSpc>
                <a:spcPct val="150000"/>
              </a:lnSpc>
            </a:pPr>
            <a:r>
              <a:rPr lang="en-US" dirty="0">
                <a:solidFill>
                  <a:srgbClr val="92D050"/>
                </a:solidFill>
              </a:rPr>
              <a:t>}</a:t>
            </a:r>
            <a:endParaRPr lang="en-IN" dirty="0">
              <a:solidFill>
                <a:srgbClr val="92D050"/>
              </a:solidFill>
            </a:endParaRPr>
          </a:p>
        </p:txBody>
      </p:sp>
    </p:spTree>
    <p:extLst>
      <p:ext uri="{BB962C8B-B14F-4D97-AF65-F5344CB8AC3E}">
        <p14:creationId xmlns:p14="http://schemas.microsoft.com/office/powerpoint/2010/main" val="12667699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E43CD-CB20-5341-87E8-72783572FD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EED383-0AA8-E3C4-D924-9E119C67434F}"/>
              </a:ext>
            </a:extLst>
          </p:cNvPr>
          <p:cNvSpPr txBox="1">
            <a:spLocks/>
          </p:cNvSpPr>
          <p:nvPr/>
        </p:nvSpPr>
        <p:spPr>
          <a:xfrm>
            <a:off x="0" y="215804"/>
            <a:ext cx="10997381" cy="879571"/>
          </a:xfrm>
          <a:prstGeom prst="rect">
            <a:avLst/>
          </a:prstGeom>
        </p:spPr>
        <p:txBody>
          <a:bodyP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t>Step 3) Create a Public No-Argument Constructor:</a:t>
            </a:r>
            <a:endParaRPr lang="en-US" sz="5400" b="1" dirty="0">
              <a:latin typeface="+mn-lt"/>
            </a:endParaRPr>
          </a:p>
        </p:txBody>
      </p:sp>
      <p:sp>
        <p:nvSpPr>
          <p:cNvPr id="3" name="Content Placeholder 2">
            <a:extLst>
              <a:ext uri="{FF2B5EF4-FFF2-40B4-BE49-F238E27FC236}">
                <a16:creationId xmlns:a16="http://schemas.microsoft.com/office/drawing/2014/main" id="{AAAA4CE1-1E9C-C0B5-C8DD-1C497DB6ABF8}"/>
              </a:ext>
            </a:extLst>
          </p:cNvPr>
          <p:cNvSpPr txBox="1">
            <a:spLocks/>
          </p:cNvSpPr>
          <p:nvPr/>
        </p:nvSpPr>
        <p:spPr>
          <a:xfrm>
            <a:off x="127819" y="1446651"/>
            <a:ext cx="10274710" cy="3964697"/>
          </a:xfrm>
          <a:prstGeom prst="rect">
            <a:avLst/>
          </a:prstGeom>
        </p:spPr>
        <p:txBody>
          <a:bodyP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endParaRPr lang="en-US" dirty="0"/>
          </a:p>
        </p:txBody>
      </p:sp>
      <p:sp>
        <p:nvSpPr>
          <p:cNvPr id="5" name="TextBox 4">
            <a:extLst>
              <a:ext uri="{FF2B5EF4-FFF2-40B4-BE49-F238E27FC236}">
                <a16:creationId xmlns:a16="http://schemas.microsoft.com/office/drawing/2014/main" id="{6EF5CDDD-03DD-9B87-7AD3-1320993B165F}"/>
              </a:ext>
            </a:extLst>
          </p:cNvPr>
          <p:cNvSpPr txBox="1"/>
          <p:nvPr/>
        </p:nvSpPr>
        <p:spPr>
          <a:xfrm>
            <a:off x="127819" y="1732687"/>
            <a:ext cx="10997381" cy="4342856"/>
          </a:xfrm>
          <a:prstGeom prst="rect">
            <a:avLst/>
          </a:prstGeom>
          <a:noFill/>
        </p:spPr>
        <p:txBody>
          <a:bodyPr wrap="square">
            <a:spAutoFit/>
          </a:bodyPr>
          <a:lstStyle/>
          <a:p>
            <a:pPr>
              <a:lnSpc>
                <a:spcPct val="150000"/>
              </a:lnSpc>
            </a:pPr>
            <a:r>
              <a:rPr lang="en-US" dirty="0"/>
              <a:t>Provide a public no-argument (default) constructor. This is often required by frameworks for object instantiation. If you define other constructors, you must explicitly define this one as well.</a:t>
            </a:r>
          </a:p>
          <a:p>
            <a:pPr algn="just">
              <a:lnSpc>
                <a:spcPct val="150000"/>
              </a:lnSpc>
            </a:pPr>
            <a:endParaRPr lang="en-US" dirty="0"/>
          </a:p>
          <a:p>
            <a:pPr algn="just">
              <a:lnSpc>
                <a:spcPct val="150000"/>
              </a:lnSpc>
            </a:pPr>
            <a:r>
              <a:rPr lang="en-US" dirty="0">
                <a:solidFill>
                  <a:srgbClr val="92D050"/>
                </a:solidFill>
              </a:rPr>
              <a:t>public class Employee {        </a:t>
            </a:r>
          </a:p>
          <a:p>
            <a:pPr algn="just"/>
            <a:r>
              <a:rPr lang="en-US" dirty="0">
                <a:solidFill>
                  <a:srgbClr val="92D050"/>
                </a:solidFill>
              </a:rPr>
              <a:t>        </a:t>
            </a:r>
            <a:r>
              <a:rPr lang="en-IN" dirty="0">
                <a:solidFill>
                  <a:srgbClr val="92D050"/>
                </a:solidFill>
              </a:rPr>
              <a:t>private String firstName;</a:t>
            </a:r>
          </a:p>
          <a:p>
            <a:pPr algn="just"/>
            <a:r>
              <a:rPr lang="en-IN" dirty="0">
                <a:solidFill>
                  <a:srgbClr val="92D050"/>
                </a:solidFill>
              </a:rPr>
              <a:t>        private String lastName;</a:t>
            </a:r>
          </a:p>
          <a:p>
            <a:pPr algn="just"/>
            <a:r>
              <a:rPr lang="en-IN" dirty="0">
                <a:solidFill>
                  <a:srgbClr val="92D050"/>
                </a:solidFill>
              </a:rPr>
              <a:t>        private int age;</a:t>
            </a:r>
          </a:p>
          <a:p>
            <a:pPr algn="just"/>
            <a:r>
              <a:rPr lang="en-IN" dirty="0">
                <a:solidFill>
                  <a:srgbClr val="92D050"/>
                </a:solidFill>
              </a:rPr>
              <a:t>        private double salary;</a:t>
            </a:r>
          </a:p>
          <a:p>
            <a:pPr algn="just"/>
            <a:endParaRPr lang="en-IN" dirty="0">
              <a:solidFill>
                <a:srgbClr val="92D050"/>
              </a:solidFill>
            </a:endParaRPr>
          </a:p>
          <a:p>
            <a:pPr algn="just"/>
            <a:r>
              <a:rPr lang="en-IN" dirty="0">
                <a:solidFill>
                  <a:srgbClr val="92D050"/>
                </a:solidFill>
              </a:rPr>
              <a:t>        public Employee() {</a:t>
            </a:r>
          </a:p>
          <a:p>
            <a:pPr algn="just"/>
            <a:r>
              <a:rPr lang="en-IN" dirty="0">
                <a:solidFill>
                  <a:srgbClr val="92D050"/>
                </a:solidFill>
              </a:rPr>
              <a:t>                // Default constructor</a:t>
            </a:r>
          </a:p>
          <a:p>
            <a:pPr algn="just"/>
            <a:r>
              <a:rPr lang="en-IN" dirty="0">
                <a:solidFill>
                  <a:srgbClr val="92D050"/>
                </a:solidFill>
              </a:rPr>
              <a:t>        }</a:t>
            </a:r>
            <a:endParaRPr lang="en-US" dirty="0">
              <a:solidFill>
                <a:srgbClr val="92D050"/>
              </a:solidFill>
            </a:endParaRPr>
          </a:p>
          <a:p>
            <a:pPr algn="just">
              <a:lnSpc>
                <a:spcPct val="150000"/>
              </a:lnSpc>
            </a:pPr>
            <a:r>
              <a:rPr lang="en-US" dirty="0">
                <a:solidFill>
                  <a:srgbClr val="92D050"/>
                </a:solidFill>
              </a:rPr>
              <a:t>}</a:t>
            </a:r>
            <a:endParaRPr lang="en-IN" dirty="0">
              <a:solidFill>
                <a:srgbClr val="92D050"/>
              </a:solidFill>
            </a:endParaRPr>
          </a:p>
        </p:txBody>
      </p:sp>
    </p:spTree>
    <p:extLst>
      <p:ext uri="{BB962C8B-B14F-4D97-AF65-F5344CB8AC3E}">
        <p14:creationId xmlns:p14="http://schemas.microsoft.com/office/powerpoint/2010/main" val="31917993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65D23-3194-4919-2905-B568B0322E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5A0DD-AD9C-375D-6D13-6719D7E2172F}"/>
              </a:ext>
            </a:extLst>
          </p:cNvPr>
          <p:cNvSpPr txBox="1">
            <a:spLocks/>
          </p:cNvSpPr>
          <p:nvPr/>
        </p:nvSpPr>
        <p:spPr>
          <a:xfrm>
            <a:off x="0" y="215804"/>
            <a:ext cx="10997381" cy="879571"/>
          </a:xfrm>
          <a:prstGeom prst="rect">
            <a:avLst/>
          </a:prstGeom>
        </p:spPr>
        <p:txBody>
          <a:bodyPr>
            <a:normAutofit fontScale="92500"/>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t>Step 4) </a:t>
            </a:r>
            <a:r>
              <a:rPr lang="en-US" b="1" dirty="0"/>
              <a:t>Implement Public Getter and Setter Methods</a:t>
            </a:r>
            <a:r>
              <a:rPr lang="en-IN" b="1" dirty="0"/>
              <a:t>:</a:t>
            </a:r>
            <a:endParaRPr lang="en-US" sz="5400" b="1" dirty="0">
              <a:latin typeface="+mn-lt"/>
            </a:endParaRPr>
          </a:p>
        </p:txBody>
      </p:sp>
      <p:sp>
        <p:nvSpPr>
          <p:cNvPr id="3" name="Content Placeholder 2">
            <a:extLst>
              <a:ext uri="{FF2B5EF4-FFF2-40B4-BE49-F238E27FC236}">
                <a16:creationId xmlns:a16="http://schemas.microsoft.com/office/drawing/2014/main" id="{64CFDBFE-BBD0-3AA4-3A47-6193BE3C5D8D}"/>
              </a:ext>
            </a:extLst>
          </p:cNvPr>
          <p:cNvSpPr txBox="1">
            <a:spLocks/>
          </p:cNvSpPr>
          <p:nvPr/>
        </p:nvSpPr>
        <p:spPr>
          <a:xfrm>
            <a:off x="127819" y="1446651"/>
            <a:ext cx="10274710" cy="3964697"/>
          </a:xfrm>
          <a:prstGeom prst="rect">
            <a:avLst/>
          </a:prstGeom>
        </p:spPr>
        <p:txBody>
          <a:bodyP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endParaRPr lang="en-US" dirty="0"/>
          </a:p>
        </p:txBody>
      </p:sp>
      <p:sp>
        <p:nvSpPr>
          <p:cNvPr id="5" name="TextBox 4">
            <a:extLst>
              <a:ext uri="{FF2B5EF4-FFF2-40B4-BE49-F238E27FC236}">
                <a16:creationId xmlns:a16="http://schemas.microsoft.com/office/drawing/2014/main" id="{517C9433-31FC-1FD9-136A-07449E6E24A8}"/>
              </a:ext>
            </a:extLst>
          </p:cNvPr>
          <p:cNvSpPr txBox="1"/>
          <p:nvPr/>
        </p:nvSpPr>
        <p:spPr>
          <a:xfrm>
            <a:off x="127819" y="1732687"/>
            <a:ext cx="10997381" cy="4204356"/>
          </a:xfrm>
          <a:prstGeom prst="rect">
            <a:avLst/>
          </a:prstGeom>
          <a:noFill/>
        </p:spPr>
        <p:txBody>
          <a:bodyPr wrap="square">
            <a:spAutoFit/>
          </a:bodyPr>
          <a:lstStyle/>
          <a:p>
            <a:pPr algn="just">
              <a:lnSpc>
                <a:spcPct val="150000"/>
              </a:lnSpc>
            </a:pPr>
            <a:r>
              <a:rPr lang="en-US" dirty="0"/>
              <a:t>For each private field, create public "getter" methods (e.g., getFirstName()) to retrieve the value of the field, and public "setter" methods (e.g., setFirstName(String firstName)) to modify its value. These methods provide controlled access to the encapsulated data.</a:t>
            </a:r>
          </a:p>
          <a:p>
            <a:pPr algn="just">
              <a:lnSpc>
                <a:spcPct val="150000"/>
              </a:lnSpc>
            </a:pPr>
            <a:endParaRPr lang="en-US" dirty="0">
              <a:solidFill>
                <a:srgbClr val="92D050"/>
              </a:solidFill>
            </a:endParaRPr>
          </a:p>
          <a:p>
            <a:pPr algn="just">
              <a:lnSpc>
                <a:spcPct val="150000"/>
              </a:lnSpc>
            </a:pPr>
            <a:r>
              <a:rPr lang="en-US" dirty="0">
                <a:solidFill>
                  <a:srgbClr val="92D050"/>
                </a:solidFill>
              </a:rPr>
              <a:t>public String getFirstName() {</a:t>
            </a:r>
          </a:p>
          <a:p>
            <a:pPr algn="just">
              <a:lnSpc>
                <a:spcPct val="150000"/>
              </a:lnSpc>
            </a:pPr>
            <a:r>
              <a:rPr lang="en-US" dirty="0">
                <a:solidFill>
                  <a:srgbClr val="92D050"/>
                </a:solidFill>
              </a:rPr>
              <a:t>    return firstName;</a:t>
            </a:r>
          </a:p>
          <a:p>
            <a:pPr algn="just">
              <a:lnSpc>
                <a:spcPct val="150000"/>
              </a:lnSpc>
            </a:pPr>
            <a:r>
              <a:rPr lang="en-US" dirty="0">
                <a:solidFill>
                  <a:srgbClr val="92D050"/>
                </a:solidFill>
              </a:rPr>
              <a:t>}</a:t>
            </a:r>
          </a:p>
          <a:p>
            <a:pPr algn="just">
              <a:lnSpc>
                <a:spcPct val="150000"/>
              </a:lnSpc>
            </a:pPr>
            <a:r>
              <a:rPr lang="en-US" dirty="0">
                <a:solidFill>
                  <a:srgbClr val="92D050"/>
                </a:solidFill>
              </a:rPr>
              <a:t>public void setFirstName(String firstName) {</a:t>
            </a:r>
          </a:p>
          <a:p>
            <a:pPr algn="just">
              <a:lnSpc>
                <a:spcPct val="150000"/>
              </a:lnSpc>
            </a:pPr>
            <a:r>
              <a:rPr lang="en-US" dirty="0">
                <a:solidFill>
                  <a:srgbClr val="92D050"/>
                </a:solidFill>
              </a:rPr>
              <a:t>    this.firstName = firstName;</a:t>
            </a:r>
          </a:p>
          <a:p>
            <a:pPr algn="just">
              <a:lnSpc>
                <a:spcPct val="150000"/>
              </a:lnSpc>
            </a:pPr>
            <a:r>
              <a:rPr lang="en-US" dirty="0">
                <a:solidFill>
                  <a:srgbClr val="92D050"/>
                </a:solidFill>
              </a:rPr>
              <a:t>}</a:t>
            </a:r>
            <a:endParaRPr lang="en-IN" dirty="0">
              <a:solidFill>
                <a:srgbClr val="92D050"/>
              </a:solidFill>
            </a:endParaRPr>
          </a:p>
        </p:txBody>
      </p:sp>
    </p:spTree>
    <p:extLst>
      <p:ext uri="{BB962C8B-B14F-4D97-AF65-F5344CB8AC3E}">
        <p14:creationId xmlns:p14="http://schemas.microsoft.com/office/powerpoint/2010/main" val="8852286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B7F72-E8E7-B518-81F8-631DBC9CE32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B07E964-8948-DD1B-D448-6F53B5C3FCC0}"/>
              </a:ext>
            </a:extLst>
          </p:cNvPr>
          <p:cNvSpPr txBox="1"/>
          <p:nvPr/>
        </p:nvSpPr>
        <p:spPr>
          <a:xfrm>
            <a:off x="5640355" y="2971800"/>
            <a:ext cx="914400" cy="914400"/>
          </a:xfrm>
          <a:prstGeom prst="rect">
            <a:avLst/>
          </a:prstGeom>
          <a:noFill/>
        </p:spPr>
        <p:txBody>
          <a:bodyPr wrap="square" rtlCol="0">
            <a:spAutoFit/>
          </a:bodyPr>
          <a:lstStyle/>
          <a:p>
            <a:endParaRPr lang="en-IN" dirty="0"/>
          </a:p>
        </p:txBody>
      </p:sp>
      <p:sp>
        <p:nvSpPr>
          <p:cNvPr id="3" name="TextBox 2">
            <a:extLst>
              <a:ext uri="{FF2B5EF4-FFF2-40B4-BE49-F238E27FC236}">
                <a16:creationId xmlns:a16="http://schemas.microsoft.com/office/drawing/2014/main" id="{54113696-534B-A7AA-A400-439131698919}"/>
              </a:ext>
            </a:extLst>
          </p:cNvPr>
          <p:cNvSpPr txBox="1"/>
          <p:nvPr/>
        </p:nvSpPr>
        <p:spPr>
          <a:xfrm>
            <a:off x="1133475" y="110877"/>
            <a:ext cx="10349203" cy="6894195"/>
          </a:xfrm>
          <a:prstGeom prst="rect">
            <a:avLst/>
          </a:prstGeom>
          <a:noFill/>
        </p:spPr>
        <p:txBody>
          <a:bodyPr wrap="square" rtlCol="0">
            <a:spAutoFit/>
          </a:bodyPr>
          <a:lstStyle/>
          <a:p>
            <a:r>
              <a:rPr lang="en-US" sz="1400" dirty="0"/>
              <a:t>public class IncidentPojo {    </a:t>
            </a:r>
          </a:p>
          <a:p>
            <a:r>
              <a:rPr lang="en-US" sz="1400" dirty="0"/>
              <a:t>      private String description;</a:t>
            </a:r>
          </a:p>
          <a:p>
            <a:r>
              <a:rPr lang="en-US" sz="1400" dirty="0"/>
              <a:t>      private String short_description;</a:t>
            </a:r>
          </a:p>
          <a:p>
            <a:endParaRPr lang="en-US" sz="1400" dirty="0"/>
          </a:p>
          <a:p>
            <a:r>
              <a:rPr lang="en-US" sz="1400" dirty="0">
                <a:solidFill>
                  <a:srgbClr val="92D050"/>
                </a:solidFill>
              </a:rPr>
              <a:t>      </a:t>
            </a:r>
            <a:r>
              <a:rPr lang="en-IN" sz="1400" i="1" dirty="0">
                <a:solidFill>
                  <a:srgbClr val="92D050"/>
                </a:solidFill>
              </a:rPr>
              <a:t>// Default constructor</a:t>
            </a:r>
            <a:endParaRPr lang="en-US" sz="1400" dirty="0">
              <a:solidFill>
                <a:srgbClr val="92D050"/>
              </a:solidFill>
            </a:endParaRPr>
          </a:p>
          <a:p>
            <a:r>
              <a:rPr lang="en-US" sz="1400" dirty="0"/>
              <a:t>      public IncidentPojo() {}</a:t>
            </a:r>
          </a:p>
          <a:p>
            <a:r>
              <a:rPr lang="en-US" sz="1400" dirty="0"/>
              <a:t>       </a:t>
            </a:r>
          </a:p>
          <a:p>
            <a:r>
              <a:rPr lang="en-US" sz="1400" dirty="0"/>
              <a:t>       </a:t>
            </a:r>
            <a:r>
              <a:rPr lang="en-IN" sz="1400" i="1" dirty="0">
                <a:solidFill>
                  <a:srgbClr val="92D050"/>
                </a:solidFill>
              </a:rPr>
              <a:t>// Parameterized constructor</a:t>
            </a:r>
            <a:endParaRPr lang="en-US" sz="1400" dirty="0">
              <a:solidFill>
                <a:srgbClr val="92D050"/>
              </a:solidFill>
            </a:endParaRPr>
          </a:p>
          <a:p>
            <a:r>
              <a:rPr lang="en-US" sz="1400" dirty="0"/>
              <a:t>      public InicdentPojo(String description, String short_description) {</a:t>
            </a:r>
          </a:p>
          <a:p>
            <a:r>
              <a:rPr lang="en-US" sz="1400" dirty="0"/>
              <a:t>              this.description = description;</a:t>
            </a:r>
          </a:p>
          <a:p>
            <a:r>
              <a:rPr lang="en-US" sz="1400" dirty="0"/>
              <a:t>              this.short_description = short_description;</a:t>
            </a:r>
          </a:p>
          <a:p>
            <a:r>
              <a:rPr lang="en-US" sz="1400" dirty="0"/>
              <a:t>      }</a:t>
            </a:r>
          </a:p>
          <a:p>
            <a:endParaRPr lang="en-US" sz="1400" dirty="0"/>
          </a:p>
          <a:p>
            <a:r>
              <a:rPr lang="en-US" sz="1400" dirty="0">
                <a:solidFill>
                  <a:srgbClr val="92D050"/>
                </a:solidFill>
              </a:rPr>
              <a:t>      </a:t>
            </a:r>
            <a:r>
              <a:rPr lang="en-IN" sz="1400" i="1" dirty="0">
                <a:solidFill>
                  <a:srgbClr val="92D050"/>
                </a:solidFill>
              </a:rPr>
              <a:t>// Setter methods</a:t>
            </a:r>
            <a:endParaRPr lang="en-US" sz="1400" dirty="0">
              <a:solidFill>
                <a:srgbClr val="92D050"/>
              </a:solidFill>
            </a:endParaRPr>
          </a:p>
          <a:p>
            <a:r>
              <a:rPr lang="en-US" sz="1400" dirty="0"/>
              <a:t>      public void setDescription(String description) {</a:t>
            </a:r>
          </a:p>
          <a:p>
            <a:r>
              <a:rPr lang="en-US" sz="1400" dirty="0"/>
              <a:t>              this.description = description;</a:t>
            </a:r>
          </a:p>
          <a:p>
            <a:r>
              <a:rPr lang="en-US" sz="1400" dirty="0"/>
              <a:t>      }</a:t>
            </a:r>
          </a:p>
          <a:p>
            <a:endParaRPr lang="en-US" sz="1400" dirty="0"/>
          </a:p>
          <a:p>
            <a:r>
              <a:rPr lang="en-US" sz="1400" dirty="0"/>
              <a:t>     public void setShort_description(String description) {</a:t>
            </a:r>
          </a:p>
          <a:p>
            <a:r>
              <a:rPr lang="en-US" sz="1400" dirty="0"/>
              <a:t>             this.short_description = short_description;</a:t>
            </a:r>
          </a:p>
          <a:p>
            <a:r>
              <a:rPr lang="en-US" sz="1400" dirty="0"/>
              <a:t>      }</a:t>
            </a:r>
          </a:p>
          <a:p>
            <a:endParaRPr lang="en-US" sz="1400" dirty="0"/>
          </a:p>
          <a:p>
            <a:r>
              <a:rPr lang="en-US" sz="1400" dirty="0"/>
              <a:t>       </a:t>
            </a:r>
            <a:r>
              <a:rPr lang="en-IN" sz="1400" i="1" dirty="0">
                <a:solidFill>
                  <a:srgbClr val="92D050"/>
                </a:solidFill>
              </a:rPr>
              <a:t>// Getter methods</a:t>
            </a:r>
            <a:endParaRPr lang="en-US" sz="1400" dirty="0">
              <a:solidFill>
                <a:srgbClr val="92D050"/>
              </a:solidFill>
            </a:endParaRPr>
          </a:p>
          <a:p>
            <a:r>
              <a:rPr lang="en-US" sz="1400" dirty="0"/>
              <a:t>      public String setDescription(String description) {</a:t>
            </a:r>
          </a:p>
          <a:p>
            <a:r>
              <a:rPr lang="en-US" sz="1400" dirty="0"/>
              <a:t>              return description;</a:t>
            </a:r>
          </a:p>
          <a:p>
            <a:r>
              <a:rPr lang="en-US" sz="1400" dirty="0"/>
              <a:t>      }</a:t>
            </a:r>
          </a:p>
          <a:p>
            <a:endParaRPr lang="en-US" sz="1400" dirty="0"/>
          </a:p>
          <a:p>
            <a:r>
              <a:rPr lang="en-US" sz="1400" dirty="0"/>
              <a:t>     public String setShort_description(String description) {</a:t>
            </a:r>
          </a:p>
          <a:p>
            <a:r>
              <a:rPr lang="en-US" sz="1400" dirty="0"/>
              <a:t>             return short_description;</a:t>
            </a:r>
          </a:p>
          <a:p>
            <a:r>
              <a:rPr lang="en-US" sz="1400" dirty="0"/>
              <a:t>      }</a:t>
            </a:r>
            <a:endParaRPr lang="en-US" dirty="0"/>
          </a:p>
          <a:p>
            <a:r>
              <a:rPr lang="en-US" dirty="0"/>
              <a:t>}</a:t>
            </a:r>
            <a:endParaRPr lang="en-IN" dirty="0"/>
          </a:p>
        </p:txBody>
      </p:sp>
    </p:spTree>
    <p:extLst>
      <p:ext uri="{BB962C8B-B14F-4D97-AF65-F5344CB8AC3E}">
        <p14:creationId xmlns:p14="http://schemas.microsoft.com/office/powerpoint/2010/main" val="34373277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7B36C-2CE2-6503-74C4-FC824EEF34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AD9001-159E-B341-C884-D62E1333022C}"/>
              </a:ext>
            </a:extLst>
          </p:cNvPr>
          <p:cNvSpPr>
            <a:spLocks noGrp="1"/>
          </p:cNvSpPr>
          <p:nvPr>
            <p:ph type="title"/>
          </p:nvPr>
        </p:nvSpPr>
        <p:spPr>
          <a:xfrm>
            <a:off x="127819" y="215805"/>
            <a:ext cx="7694818" cy="1325563"/>
          </a:xfrm>
        </p:spPr>
        <p:txBody>
          <a:bodyPr>
            <a:normAutofit/>
          </a:bodyPr>
          <a:lstStyle/>
          <a:p>
            <a:r>
              <a:rPr lang="en-US" sz="5400" b="1" dirty="0">
                <a:latin typeface="+mn-lt"/>
              </a:rPr>
              <a:t>API Request</a:t>
            </a:r>
          </a:p>
        </p:txBody>
      </p:sp>
      <p:sp>
        <p:nvSpPr>
          <p:cNvPr id="3" name="Content Placeholder 2">
            <a:extLst>
              <a:ext uri="{FF2B5EF4-FFF2-40B4-BE49-F238E27FC236}">
                <a16:creationId xmlns:a16="http://schemas.microsoft.com/office/drawing/2014/main" id="{08983380-F4AC-E62B-47BF-A3138510F736}"/>
              </a:ext>
            </a:extLst>
          </p:cNvPr>
          <p:cNvSpPr>
            <a:spLocks noGrp="1"/>
          </p:cNvSpPr>
          <p:nvPr>
            <p:ph idx="1"/>
          </p:nvPr>
        </p:nvSpPr>
        <p:spPr>
          <a:xfrm>
            <a:off x="127819" y="1446651"/>
            <a:ext cx="10274710" cy="3964697"/>
          </a:xfrm>
        </p:spPr>
        <p:txBody>
          <a:bodyPr>
            <a:normAutofit/>
          </a:bodyPr>
          <a:lstStyle/>
          <a:p>
            <a:pPr>
              <a:lnSpc>
                <a:spcPct val="100000"/>
              </a:lnSpc>
              <a:spcBef>
                <a:spcPts val="0"/>
              </a:spcBef>
              <a:buFont typeface="Calibri" panose="020F0502020204030204" pitchFamily="34" charset="0"/>
              <a:buChar char="⁻"/>
            </a:pPr>
            <a:r>
              <a:rPr lang="en-US" dirty="0"/>
              <a:t>Authorization</a:t>
            </a:r>
          </a:p>
          <a:p>
            <a:pPr>
              <a:lnSpc>
                <a:spcPct val="100000"/>
              </a:lnSpc>
              <a:spcBef>
                <a:spcPts val="0"/>
              </a:spcBef>
              <a:buFont typeface="Calibri" panose="020F0502020204030204" pitchFamily="34" charset="0"/>
              <a:buChar char="⁻"/>
            </a:pPr>
            <a:r>
              <a:rPr lang="en-US" dirty="0"/>
              <a:t>Path Parameter (Optional)</a:t>
            </a:r>
          </a:p>
          <a:p>
            <a:pPr>
              <a:lnSpc>
                <a:spcPct val="100000"/>
              </a:lnSpc>
              <a:spcBef>
                <a:spcPts val="0"/>
              </a:spcBef>
              <a:buFont typeface="Calibri" panose="020F0502020204030204" pitchFamily="34" charset="0"/>
              <a:buChar char="⁻"/>
            </a:pPr>
            <a:r>
              <a:rPr lang="en-US" dirty="0"/>
              <a:t>Accept Header (Optional)</a:t>
            </a:r>
          </a:p>
          <a:p>
            <a:pPr>
              <a:lnSpc>
                <a:spcPct val="100000"/>
              </a:lnSpc>
              <a:spcBef>
                <a:spcPts val="0"/>
              </a:spcBef>
              <a:buFont typeface="Calibri" panose="020F0502020204030204" pitchFamily="34" charset="0"/>
              <a:buChar char="⁻"/>
            </a:pPr>
            <a:r>
              <a:rPr lang="en-US" dirty="0"/>
              <a:t>Body as Object (Use the POJO class to create the JSON object)</a:t>
            </a:r>
          </a:p>
          <a:p>
            <a:pPr>
              <a:lnSpc>
                <a:spcPct val="100000"/>
              </a:lnSpc>
              <a:spcBef>
                <a:spcPts val="0"/>
              </a:spcBef>
              <a:buFont typeface="Calibri" panose="020F0502020204030204" pitchFamily="34" charset="0"/>
              <a:buChar char="⁻"/>
            </a:pPr>
            <a:r>
              <a:rPr lang="en-US" dirty="0"/>
              <a:t>POST method</a:t>
            </a:r>
          </a:p>
        </p:txBody>
      </p:sp>
    </p:spTree>
    <p:extLst>
      <p:ext uri="{BB962C8B-B14F-4D97-AF65-F5344CB8AC3E}">
        <p14:creationId xmlns:p14="http://schemas.microsoft.com/office/powerpoint/2010/main" val="30977147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71DDE-702D-AC45-3437-FB596134971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8175985-5577-E734-51C5-D951239D1B06}"/>
              </a:ext>
            </a:extLst>
          </p:cNvPr>
          <p:cNvSpPr txBox="1"/>
          <p:nvPr/>
        </p:nvSpPr>
        <p:spPr>
          <a:xfrm>
            <a:off x="5640355" y="2971800"/>
            <a:ext cx="914400" cy="914400"/>
          </a:xfrm>
          <a:prstGeom prst="rect">
            <a:avLst/>
          </a:prstGeom>
          <a:noFill/>
        </p:spPr>
        <p:txBody>
          <a:bodyPr wrap="square" rtlCol="0">
            <a:spAutoFit/>
          </a:bodyPr>
          <a:lstStyle/>
          <a:p>
            <a:endParaRPr lang="en-IN" dirty="0"/>
          </a:p>
        </p:txBody>
      </p:sp>
      <p:sp>
        <p:nvSpPr>
          <p:cNvPr id="3" name="TextBox 2">
            <a:extLst>
              <a:ext uri="{FF2B5EF4-FFF2-40B4-BE49-F238E27FC236}">
                <a16:creationId xmlns:a16="http://schemas.microsoft.com/office/drawing/2014/main" id="{D771D266-889E-7EB3-2A52-5B5230701A14}"/>
              </a:ext>
            </a:extLst>
          </p:cNvPr>
          <p:cNvSpPr txBox="1"/>
          <p:nvPr/>
        </p:nvSpPr>
        <p:spPr>
          <a:xfrm>
            <a:off x="0" y="432643"/>
            <a:ext cx="10865498" cy="5909310"/>
          </a:xfrm>
          <a:prstGeom prst="rect">
            <a:avLst/>
          </a:prstGeom>
          <a:noFill/>
        </p:spPr>
        <p:txBody>
          <a:bodyPr wrap="square" rtlCol="0">
            <a:spAutoFit/>
          </a:bodyPr>
          <a:lstStyle/>
          <a:p>
            <a:r>
              <a:rPr lang="en-IN" dirty="0"/>
              <a:t>RestAssured.given()</a:t>
            </a:r>
          </a:p>
          <a:p>
            <a:r>
              <a:rPr lang="en-IN" dirty="0"/>
              <a:t>             </a:t>
            </a:r>
            <a:r>
              <a:rPr lang="en-IN" dirty="0">
                <a:solidFill>
                  <a:srgbClr val="FFFF00"/>
                </a:solidFill>
              </a:rPr>
              <a:t>// To define the base Uniform Resource Identifier (URI)</a:t>
            </a:r>
          </a:p>
          <a:p>
            <a:r>
              <a:rPr lang="en-IN" dirty="0"/>
              <a:t>            .baseUri("https://dev214352.service-now.com")</a:t>
            </a:r>
          </a:p>
          <a:p>
            <a:r>
              <a:rPr lang="en-IN" dirty="0"/>
              <a:t>             </a:t>
            </a:r>
            <a:r>
              <a:rPr lang="en-IN" dirty="0">
                <a:solidFill>
                  <a:srgbClr val="FFFF00"/>
                </a:solidFill>
              </a:rPr>
              <a:t>// </a:t>
            </a:r>
            <a:r>
              <a:rPr lang="en-US" dirty="0">
                <a:solidFill>
                  <a:srgbClr val="FFFF00"/>
                </a:solidFill>
              </a:rPr>
              <a:t>To define a common path segment that will be prepended to the path of all subsequent requests</a:t>
            </a:r>
            <a:endParaRPr lang="en-IN" dirty="0">
              <a:solidFill>
                <a:srgbClr val="FFFF00"/>
              </a:solidFill>
            </a:endParaRPr>
          </a:p>
          <a:p>
            <a:r>
              <a:rPr lang="en-IN" dirty="0"/>
              <a:t>            .basePath("/api/now/table")</a:t>
            </a:r>
          </a:p>
          <a:p>
            <a:r>
              <a:rPr lang="en-IN" dirty="0"/>
              <a:t>             </a:t>
            </a:r>
            <a:r>
              <a:rPr lang="en-IN" dirty="0">
                <a:solidFill>
                  <a:srgbClr val="FFFF00"/>
                </a:solidFill>
              </a:rPr>
              <a:t>// Request header for </a:t>
            </a:r>
            <a:r>
              <a:rPr lang="en-US" dirty="0">
                <a:solidFill>
                  <a:srgbClr val="FFFF00"/>
                </a:solidFill>
              </a:rPr>
              <a:t>specifying the type of content that can be accepted in a response</a:t>
            </a:r>
            <a:endParaRPr lang="en-IN" dirty="0">
              <a:solidFill>
                <a:srgbClr val="FFFF00"/>
              </a:solidFill>
            </a:endParaRPr>
          </a:p>
          <a:p>
            <a:r>
              <a:rPr lang="en-IN" dirty="0"/>
              <a:t>            .header("Accept", "application/json")</a:t>
            </a:r>
          </a:p>
          <a:p>
            <a:r>
              <a:rPr lang="en-IN" dirty="0"/>
              <a:t>             </a:t>
            </a:r>
            <a:r>
              <a:rPr lang="en-IN" dirty="0">
                <a:solidFill>
                  <a:srgbClr val="FFFF00"/>
                </a:solidFill>
              </a:rPr>
              <a:t>// To set the Path parameter which mentioned in the path of the endpoint</a:t>
            </a:r>
          </a:p>
          <a:p>
            <a:r>
              <a:rPr lang="en-IN" dirty="0"/>
              <a:t>            .pathParam("tableName", " incident")</a:t>
            </a:r>
          </a:p>
          <a:p>
            <a:r>
              <a:rPr lang="en-IN" dirty="0"/>
              <a:t>            .when()</a:t>
            </a:r>
          </a:p>
          <a:p>
            <a:r>
              <a:rPr lang="en-IN" dirty="0"/>
              <a:t>             </a:t>
            </a:r>
            <a:r>
              <a:rPr lang="en-IN" dirty="0">
                <a:solidFill>
                  <a:srgbClr val="FFFF00"/>
                </a:solidFill>
              </a:rPr>
              <a:t>// T</a:t>
            </a:r>
            <a:r>
              <a:rPr lang="en-US" dirty="0">
                <a:solidFill>
                  <a:srgbClr val="FFFF00"/>
                </a:solidFill>
              </a:rPr>
              <a:t>he request body that will be sent with an HTTP request, typically for methods like POST, PUT, or PATCH</a:t>
            </a:r>
            <a:endParaRPr lang="en-IN" dirty="0">
              <a:solidFill>
                <a:srgbClr val="FFFF00"/>
              </a:solidFill>
            </a:endParaRPr>
          </a:p>
          <a:p>
            <a:r>
              <a:rPr lang="en-IN" dirty="0"/>
              <a:t>            .body(pojo-class-object)</a:t>
            </a:r>
          </a:p>
          <a:p>
            <a:r>
              <a:rPr lang="en-IN" dirty="0">
                <a:solidFill>
                  <a:srgbClr val="FFFF00"/>
                </a:solidFill>
              </a:rPr>
              <a:t>             // Endpoint for fetching all incident records</a:t>
            </a:r>
            <a:r>
              <a:rPr lang="en-IN" dirty="0"/>
              <a:t> </a:t>
            </a:r>
          </a:p>
          <a:p>
            <a:r>
              <a:rPr lang="en-IN" dirty="0"/>
              <a:t>            .post("/{tableName}")</a:t>
            </a:r>
          </a:p>
          <a:p>
            <a:r>
              <a:rPr lang="en-IN" dirty="0"/>
              <a:t>            .then().assertThat()</a:t>
            </a:r>
          </a:p>
          <a:p>
            <a:r>
              <a:rPr lang="en-IN" dirty="0"/>
              <a:t>             </a:t>
            </a:r>
            <a:r>
              <a:rPr lang="en-IN" dirty="0">
                <a:solidFill>
                  <a:srgbClr val="FFFF00"/>
                </a:solidFill>
              </a:rPr>
              <a:t>// Assert response status code</a:t>
            </a:r>
          </a:p>
          <a:p>
            <a:r>
              <a:rPr lang="en-IN" dirty="0"/>
              <a:t>            .statusCode(Matchers.</a:t>
            </a:r>
            <a:r>
              <a:rPr lang="en-IN" i="1" dirty="0"/>
              <a:t>equalTo</a:t>
            </a:r>
            <a:r>
              <a:rPr lang="en-IN" dirty="0"/>
              <a:t>(201))</a:t>
            </a:r>
          </a:p>
          <a:p>
            <a:r>
              <a:rPr lang="en-IN" dirty="0"/>
              <a:t>             </a:t>
            </a:r>
            <a:r>
              <a:rPr lang="en-IN" dirty="0">
                <a:solidFill>
                  <a:srgbClr val="FFFF00"/>
                </a:solidFill>
              </a:rPr>
              <a:t>// Assert response status name</a:t>
            </a:r>
            <a:endParaRPr lang="en-IN" dirty="0"/>
          </a:p>
          <a:p>
            <a:r>
              <a:rPr lang="en-IN" dirty="0"/>
              <a:t>            .statusLine(Matchers.containsString(“Created”)); </a:t>
            </a:r>
          </a:p>
          <a:p>
            <a:r>
              <a:rPr lang="en-IN" dirty="0">
                <a:solidFill>
                  <a:srgbClr val="FFFF00"/>
                </a:solidFill>
              </a:rPr>
              <a:t>            // Assert response time should be less than</a:t>
            </a:r>
          </a:p>
          <a:p>
            <a:r>
              <a:rPr lang="en-IN" dirty="0"/>
              <a:t>           .time(Matchers.lessThan(5000L))</a:t>
            </a:r>
          </a:p>
        </p:txBody>
      </p:sp>
    </p:spTree>
    <p:extLst>
      <p:ext uri="{BB962C8B-B14F-4D97-AF65-F5344CB8AC3E}">
        <p14:creationId xmlns:p14="http://schemas.microsoft.com/office/powerpoint/2010/main" val="21606340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61671-B0B8-DD4B-E2CD-EF584C8D9E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5F496-2662-B96D-2CF1-162737ABFB58}"/>
              </a:ext>
            </a:extLst>
          </p:cNvPr>
          <p:cNvSpPr>
            <a:spLocks noGrp="1"/>
          </p:cNvSpPr>
          <p:nvPr>
            <p:ph type="title"/>
          </p:nvPr>
        </p:nvSpPr>
        <p:spPr>
          <a:xfrm>
            <a:off x="108155" y="137146"/>
            <a:ext cx="7694818" cy="1325563"/>
          </a:xfrm>
        </p:spPr>
        <p:txBody>
          <a:bodyPr>
            <a:normAutofit/>
          </a:bodyPr>
          <a:lstStyle/>
          <a:p>
            <a:r>
              <a:rPr lang="en-US" sz="5400" b="1" dirty="0">
                <a:latin typeface="+mn-lt"/>
              </a:rPr>
              <a:t>API Response</a:t>
            </a:r>
          </a:p>
        </p:txBody>
      </p:sp>
      <p:sp>
        <p:nvSpPr>
          <p:cNvPr id="3" name="Content Placeholder 2">
            <a:extLst>
              <a:ext uri="{FF2B5EF4-FFF2-40B4-BE49-F238E27FC236}">
                <a16:creationId xmlns:a16="http://schemas.microsoft.com/office/drawing/2014/main" id="{3FFEDC98-77B4-38C2-1E06-77A468937548}"/>
              </a:ext>
            </a:extLst>
          </p:cNvPr>
          <p:cNvSpPr>
            <a:spLocks noGrp="1"/>
          </p:cNvSpPr>
          <p:nvPr>
            <p:ph idx="1"/>
          </p:nvPr>
        </p:nvSpPr>
        <p:spPr>
          <a:xfrm>
            <a:off x="108155" y="1605634"/>
            <a:ext cx="9065342" cy="3723449"/>
          </a:xfrm>
        </p:spPr>
        <p:txBody>
          <a:bodyPr>
            <a:normAutofit/>
          </a:bodyPr>
          <a:lstStyle/>
          <a:p>
            <a:pPr>
              <a:lnSpc>
                <a:spcPct val="100000"/>
              </a:lnSpc>
              <a:spcBef>
                <a:spcPts val="0"/>
              </a:spcBef>
              <a:buFont typeface="Calibri" panose="020F0502020204030204" pitchFamily="34" charset="0"/>
              <a:buChar char="⁻"/>
            </a:pPr>
            <a:r>
              <a:rPr lang="en-US" dirty="0"/>
              <a:t>HTTP Status Code</a:t>
            </a:r>
          </a:p>
          <a:p>
            <a:pPr>
              <a:lnSpc>
                <a:spcPct val="100000"/>
              </a:lnSpc>
              <a:spcBef>
                <a:spcPts val="0"/>
              </a:spcBef>
              <a:buFont typeface="Calibri" panose="020F0502020204030204" pitchFamily="34" charset="0"/>
              <a:buChar char="⁻"/>
            </a:pPr>
            <a:r>
              <a:rPr lang="en-US" dirty="0"/>
              <a:t>HTTP Status Name</a:t>
            </a:r>
          </a:p>
          <a:p>
            <a:pPr>
              <a:lnSpc>
                <a:spcPct val="100000"/>
              </a:lnSpc>
              <a:spcBef>
                <a:spcPts val="0"/>
              </a:spcBef>
              <a:buFont typeface="Calibri" panose="020F0502020204030204" pitchFamily="34" charset="0"/>
              <a:buChar char="⁻"/>
            </a:pPr>
            <a:r>
              <a:rPr lang="en-US" dirty="0"/>
              <a:t>Header</a:t>
            </a:r>
          </a:p>
          <a:p>
            <a:pPr>
              <a:lnSpc>
                <a:spcPct val="100000"/>
              </a:lnSpc>
              <a:spcBef>
                <a:spcPts val="0"/>
              </a:spcBef>
              <a:buFont typeface="Calibri" panose="020F0502020204030204" pitchFamily="34" charset="0"/>
              <a:buChar char="⁻"/>
            </a:pPr>
            <a:r>
              <a:rPr lang="en-US" dirty="0"/>
              <a:t>Response Body</a:t>
            </a:r>
          </a:p>
        </p:txBody>
      </p:sp>
    </p:spTree>
    <p:extLst>
      <p:ext uri="{BB962C8B-B14F-4D97-AF65-F5344CB8AC3E}">
        <p14:creationId xmlns:p14="http://schemas.microsoft.com/office/powerpoint/2010/main" val="18214139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39A3E-55E0-1EAF-715F-B46A1706FB8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BCB424F-51C7-985C-0904-4349A7F8A02E}"/>
              </a:ext>
            </a:extLst>
          </p:cNvPr>
          <p:cNvSpPr txBox="1">
            <a:spLocks/>
          </p:cNvSpPr>
          <p:nvPr/>
        </p:nvSpPr>
        <p:spPr>
          <a:xfrm>
            <a:off x="102637" y="420777"/>
            <a:ext cx="6680718" cy="978815"/>
          </a:xfrm>
          <a:prstGeom prst="rect">
            <a:avLst/>
          </a:prstGeom>
        </p:spPr>
        <p:txBody>
          <a:bodyP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5400" b="1" dirty="0">
                <a:latin typeface="+mn-lt"/>
              </a:rPr>
              <a:t>Hamcrest Matches</a:t>
            </a:r>
          </a:p>
        </p:txBody>
      </p:sp>
      <p:sp>
        <p:nvSpPr>
          <p:cNvPr id="5" name="TextBox 4">
            <a:extLst>
              <a:ext uri="{FF2B5EF4-FFF2-40B4-BE49-F238E27FC236}">
                <a16:creationId xmlns:a16="http://schemas.microsoft.com/office/drawing/2014/main" id="{C83FBF36-49F4-2233-7DFD-80CEC8606957}"/>
              </a:ext>
            </a:extLst>
          </p:cNvPr>
          <p:cNvSpPr txBox="1"/>
          <p:nvPr/>
        </p:nvSpPr>
        <p:spPr>
          <a:xfrm>
            <a:off x="0" y="1593026"/>
            <a:ext cx="10707329" cy="2542363"/>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IN" dirty="0">
                <a:solidFill>
                  <a:schemeClr val="accent5">
                    <a:lumMod val="60000"/>
                    <a:lumOff val="40000"/>
                  </a:schemeClr>
                </a:solidFill>
              </a:rPr>
              <a:t>time(Matchers.lessThan(5000L));</a:t>
            </a:r>
          </a:p>
          <a:p>
            <a:pPr algn="just">
              <a:lnSpc>
                <a:spcPct val="150000"/>
              </a:lnSpc>
            </a:pPr>
            <a:endParaRPr lang="en-IN" dirty="0">
              <a:solidFill>
                <a:schemeClr val="accent5">
                  <a:lumMod val="60000"/>
                  <a:lumOff val="40000"/>
                </a:schemeClr>
              </a:solidFill>
            </a:endParaRPr>
          </a:p>
          <a:p>
            <a:pPr marL="742950" lvl="1" indent="-285750" algn="just">
              <a:lnSpc>
                <a:spcPct val="150000"/>
              </a:lnSpc>
              <a:buFont typeface="Wingdings" panose="05000000000000000000" pitchFamily="2" charset="2"/>
              <a:buChar char="Ø"/>
            </a:pPr>
            <a:r>
              <a:rPr lang="en-US" dirty="0"/>
              <a:t> to retrieve and assert the response time of an API request. </a:t>
            </a:r>
          </a:p>
          <a:p>
            <a:pPr lvl="1" algn="just">
              <a:lnSpc>
                <a:spcPct val="150000"/>
              </a:lnSpc>
            </a:pPr>
            <a:endParaRPr lang="en-US" dirty="0"/>
          </a:p>
          <a:p>
            <a:pPr marL="742950" lvl="1" indent="-285750" algn="just">
              <a:lnSpc>
                <a:spcPct val="150000"/>
              </a:lnSpc>
              <a:buFont typeface="Wingdings" panose="05000000000000000000" pitchFamily="2" charset="2"/>
              <a:buChar char="Ø"/>
            </a:pPr>
            <a:r>
              <a:rPr lang="en-US" dirty="0"/>
              <a:t>Validate the response time of the create a new record should be less than 5000 ms. If exceeds the test case will failed</a:t>
            </a:r>
          </a:p>
        </p:txBody>
      </p:sp>
    </p:spTree>
    <p:extLst>
      <p:ext uri="{BB962C8B-B14F-4D97-AF65-F5344CB8AC3E}">
        <p14:creationId xmlns:p14="http://schemas.microsoft.com/office/powerpoint/2010/main" val="11444752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A9F3A5-48DF-AB03-AF80-5534F298C18F}"/>
              </a:ext>
            </a:extLst>
          </p:cNvPr>
          <p:cNvPicPr>
            <a:picLocks noChangeAspect="1"/>
          </p:cNvPicPr>
          <p:nvPr/>
        </p:nvPicPr>
        <p:blipFill>
          <a:blip r:embed="rId2"/>
          <a:stretch>
            <a:fillRect/>
          </a:stretch>
        </p:blipFill>
        <p:spPr>
          <a:xfrm>
            <a:off x="192233" y="2183595"/>
            <a:ext cx="11807534" cy="1875221"/>
          </a:xfrm>
          <a:prstGeom prst="rect">
            <a:avLst/>
          </a:prstGeom>
        </p:spPr>
      </p:pic>
    </p:spTree>
    <p:extLst>
      <p:ext uri="{BB962C8B-B14F-4D97-AF65-F5344CB8AC3E}">
        <p14:creationId xmlns:p14="http://schemas.microsoft.com/office/powerpoint/2010/main" val="15644369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9D9C4E-6BC3-E58A-FC5A-49145317B2FE}"/>
              </a:ext>
            </a:extLst>
          </p:cNvPr>
          <p:cNvSpPr>
            <a:spLocks noGrp="1"/>
          </p:cNvSpPr>
          <p:nvPr>
            <p:ph type="body" sz="half" idx="2"/>
          </p:nvPr>
        </p:nvSpPr>
        <p:spPr>
          <a:xfrm>
            <a:off x="825760" y="5775465"/>
            <a:ext cx="10131427" cy="493712"/>
          </a:xfrm>
        </p:spPr>
        <p:txBody>
          <a:bodyPr>
            <a:normAutofit/>
          </a:bodyPr>
          <a:lstStyle/>
          <a:p>
            <a:r>
              <a:rPr lang="ru-RU" altLang="en-US" sz="2400" u="sng" dirty="0">
                <a:hlinkClick r:id="rId2"/>
              </a:rPr>
              <a:t>https://github.com/google/gson</a:t>
            </a:r>
            <a:endParaRPr lang="en-IN" u="sng" dirty="0"/>
          </a:p>
        </p:txBody>
      </p:sp>
      <p:pic>
        <p:nvPicPr>
          <p:cNvPr id="9" name="Picture 8">
            <a:extLst>
              <a:ext uri="{FF2B5EF4-FFF2-40B4-BE49-F238E27FC236}">
                <a16:creationId xmlns:a16="http://schemas.microsoft.com/office/drawing/2014/main" id="{6FC79CAF-0CC2-E495-7E0B-017344CF16B5}"/>
              </a:ext>
            </a:extLst>
          </p:cNvPr>
          <p:cNvPicPr>
            <a:picLocks noChangeAspect="1"/>
          </p:cNvPicPr>
          <p:nvPr/>
        </p:nvPicPr>
        <p:blipFill>
          <a:blip r:embed="rId3"/>
          <a:stretch>
            <a:fillRect/>
          </a:stretch>
        </p:blipFill>
        <p:spPr>
          <a:xfrm>
            <a:off x="825760" y="354563"/>
            <a:ext cx="9749059" cy="5166950"/>
          </a:xfrm>
          <a:prstGeom prst="rect">
            <a:avLst/>
          </a:prstGeom>
        </p:spPr>
      </p:pic>
    </p:spTree>
    <p:extLst>
      <p:ext uri="{BB962C8B-B14F-4D97-AF65-F5344CB8AC3E}">
        <p14:creationId xmlns:p14="http://schemas.microsoft.com/office/powerpoint/2010/main" val="16901386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87D0F-75E5-CC53-08D1-A5012C38D5AC}"/>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D8EFBB5B-E8EE-72BF-7F19-EA2AE88DE585}"/>
              </a:ext>
            </a:extLst>
          </p:cNvPr>
          <p:cNvSpPr>
            <a:spLocks noGrp="1"/>
          </p:cNvSpPr>
          <p:nvPr>
            <p:ph type="body" sz="half" idx="2"/>
          </p:nvPr>
        </p:nvSpPr>
        <p:spPr>
          <a:xfrm>
            <a:off x="825760" y="5775465"/>
            <a:ext cx="10131427" cy="493712"/>
          </a:xfrm>
        </p:spPr>
        <p:txBody>
          <a:bodyPr>
            <a:normAutofit/>
          </a:bodyPr>
          <a:lstStyle/>
          <a:p>
            <a:r>
              <a:rPr lang="en-IN" altLang="en-US" sz="2400" dirty="0"/>
              <a:t>https://mvnrepository.com/artifact/com.google.code.gson/gson/2.13.2</a:t>
            </a:r>
          </a:p>
        </p:txBody>
      </p:sp>
      <p:pic>
        <p:nvPicPr>
          <p:cNvPr id="9" name="Picture 8">
            <a:extLst>
              <a:ext uri="{FF2B5EF4-FFF2-40B4-BE49-F238E27FC236}">
                <a16:creationId xmlns:a16="http://schemas.microsoft.com/office/drawing/2014/main" id="{0BF53502-5651-A5CB-5173-5A4D7E8FE1AC}"/>
              </a:ext>
            </a:extLst>
          </p:cNvPr>
          <p:cNvPicPr>
            <a:picLocks noChangeAspect="1"/>
          </p:cNvPicPr>
          <p:nvPr/>
        </p:nvPicPr>
        <p:blipFill>
          <a:blip r:embed="rId2"/>
          <a:stretch>
            <a:fillRect/>
          </a:stretch>
        </p:blipFill>
        <p:spPr>
          <a:xfrm>
            <a:off x="825760" y="98865"/>
            <a:ext cx="8297650" cy="5555485"/>
          </a:xfrm>
          <a:prstGeom prst="rect">
            <a:avLst/>
          </a:prstGeom>
        </p:spPr>
      </p:pic>
    </p:spTree>
    <p:extLst>
      <p:ext uri="{BB962C8B-B14F-4D97-AF65-F5344CB8AC3E}">
        <p14:creationId xmlns:p14="http://schemas.microsoft.com/office/powerpoint/2010/main" val="31778269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B67BE-EBEF-6BFC-E6CC-87E1701D7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716600-0417-17AB-3D09-A1B20DA35AA4}"/>
              </a:ext>
            </a:extLst>
          </p:cNvPr>
          <p:cNvSpPr>
            <a:spLocks noGrp="1"/>
          </p:cNvSpPr>
          <p:nvPr>
            <p:ph type="title"/>
          </p:nvPr>
        </p:nvSpPr>
        <p:spPr>
          <a:xfrm>
            <a:off x="127819" y="215805"/>
            <a:ext cx="7694818" cy="1325563"/>
          </a:xfrm>
        </p:spPr>
        <p:txBody>
          <a:bodyPr>
            <a:normAutofit/>
          </a:bodyPr>
          <a:lstStyle/>
          <a:p>
            <a:r>
              <a:rPr lang="en-US" sz="5400" b="1" dirty="0">
                <a:latin typeface="+mn-lt"/>
              </a:rPr>
              <a:t>Pom.xml</a:t>
            </a:r>
          </a:p>
        </p:txBody>
      </p:sp>
      <p:sp>
        <p:nvSpPr>
          <p:cNvPr id="3" name="Content Placeholder 2">
            <a:extLst>
              <a:ext uri="{FF2B5EF4-FFF2-40B4-BE49-F238E27FC236}">
                <a16:creationId xmlns:a16="http://schemas.microsoft.com/office/drawing/2014/main" id="{1E43003C-1E6A-34FE-681D-CDE81626BD9E}"/>
              </a:ext>
            </a:extLst>
          </p:cNvPr>
          <p:cNvSpPr>
            <a:spLocks noGrp="1"/>
          </p:cNvSpPr>
          <p:nvPr>
            <p:ph idx="1"/>
          </p:nvPr>
        </p:nvSpPr>
        <p:spPr>
          <a:xfrm>
            <a:off x="127819" y="1446651"/>
            <a:ext cx="10274710" cy="3964697"/>
          </a:xfrm>
        </p:spPr>
        <p:txBody>
          <a:bodyPr>
            <a:normAutofit/>
          </a:bodyPr>
          <a:lstStyle/>
          <a:p>
            <a:pPr marL="0" indent="0">
              <a:buNone/>
            </a:pPr>
            <a:r>
              <a:rPr lang="en-US" altLang="en-US" dirty="0"/>
              <a:t>. . .</a:t>
            </a:r>
          </a:p>
          <a:p>
            <a:pPr marL="0" indent="0">
              <a:buNone/>
            </a:pPr>
            <a:r>
              <a:rPr lang="en-US" altLang="en-US" dirty="0"/>
              <a:t>&lt;dependencies&gt;</a:t>
            </a:r>
          </a:p>
          <a:p>
            <a:pPr marL="0" indent="0">
              <a:buNone/>
            </a:pPr>
            <a:r>
              <a:rPr lang="en-US" altLang="en-US" dirty="0"/>
              <a:t>. . .</a:t>
            </a:r>
          </a:p>
          <a:p>
            <a:pPr marL="0" indent="0">
              <a:buNone/>
            </a:pPr>
            <a:r>
              <a:rPr lang="en-US" altLang="en-US" dirty="0"/>
              <a:t>  </a:t>
            </a:r>
            <a:r>
              <a:rPr lang="ru-RU" altLang="en-US" dirty="0"/>
              <a:t>&lt;dependency&gt;</a:t>
            </a:r>
            <a:br>
              <a:rPr lang="ru-RU" altLang="en-US" dirty="0"/>
            </a:br>
            <a:r>
              <a:rPr lang="ru-RU" altLang="en-US" dirty="0"/>
              <a:t>    &lt;groupId&gt;com.google.code.gson&lt;/groupId&gt;</a:t>
            </a:r>
            <a:br>
              <a:rPr lang="ru-RU" altLang="en-US" dirty="0"/>
            </a:br>
            <a:r>
              <a:rPr lang="ru-RU" altLang="en-US" dirty="0"/>
              <a:t>    &lt;artifactId&gt;gson&lt;/artifactId&gt;</a:t>
            </a:r>
            <a:br>
              <a:rPr lang="ru-RU" altLang="en-US" dirty="0"/>
            </a:br>
            <a:r>
              <a:rPr lang="ru-RU" altLang="en-US" dirty="0"/>
              <a:t>    &lt;version&gt;2.1</a:t>
            </a:r>
            <a:r>
              <a:rPr lang="en-US" altLang="en-US" dirty="0"/>
              <a:t>3.2</a:t>
            </a:r>
            <a:r>
              <a:rPr lang="ru-RU" altLang="en-US" dirty="0"/>
              <a:t>&lt;/version&gt;</a:t>
            </a:r>
            <a:br>
              <a:rPr lang="ru-RU" altLang="en-US" dirty="0"/>
            </a:br>
            <a:r>
              <a:rPr lang="en-US" altLang="en-US" dirty="0"/>
              <a:t>  </a:t>
            </a:r>
            <a:r>
              <a:rPr lang="ru-RU" altLang="en-US" dirty="0"/>
              <a:t>&lt;/dependency&gt;</a:t>
            </a:r>
            <a:br>
              <a:rPr lang="ru-RU" altLang="en-US" dirty="0"/>
            </a:br>
            <a:r>
              <a:rPr lang="en-US" altLang="en-US" dirty="0"/>
              <a:t>&lt;/dependencies&gt;</a:t>
            </a:r>
          </a:p>
          <a:p>
            <a:pPr marL="0" indent="0">
              <a:buNone/>
            </a:pPr>
            <a:r>
              <a:rPr lang="en-US" altLang="en-US" dirty="0"/>
              <a:t>. . .</a:t>
            </a:r>
            <a:endParaRPr lang="ru-RU" altLang="en-US" dirty="0"/>
          </a:p>
          <a:p>
            <a:pPr marL="0" indent="0">
              <a:lnSpc>
                <a:spcPct val="100000"/>
              </a:lnSpc>
              <a:spcBef>
                <a:spcPts val="0"/>
              </a:spcBef>
              <a:buNone/>
            </a:pPr>
            <a:endParaRPr lang="en-US" dirty="0"/>
          </a:p>
        </p:txBody>
      </p:sp>
    </p:spTree>
    <p:extLst>
      <p:ext uri="{BB962C8B-B14F-4D97-AF65-F5344CB8AC3E}">
        <p14:creationId xmlns:p14="http://schemas.microsoft.com/office/powerpoint/2010/main" val="5882812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B9A2D-14AF-C097-1714-B92AA8EA60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175CDE-CEC7-3CFA-3B37-C812680E675B}"/>
              </a:ext>
            </a:extLst>
          </p:cNvPr>
          <p:cNvSpPr>
            <a:spLocks noGrp="1"/>
          </p:cNvSpPr>
          <p:nvPr>
            <p:ph type="ctrTitle"/>
          </p:nvPr>
        </p:nvSpPr>
        <p:spPr>
          <a:xfrm>
            <a:off x="2552700" y="200025"/>
            <a:ext cx="8887343" cy="3364612"/>
          </a:xfrm>
        </p:spPr>
        <p:txBody>
          <a:bodyPr/>
          <a:lstStyle/>
          <a:p>
            <a:r>
              <a:rPr lang="en-US" dirty="0"/>
              <a:t>Steps to </a:t>
            </a:r>
            <a:r>
              <a:rPr lang="en-US" dirty="0">
                <a:solidFill>
                  <a:srgbClr val="92D050"/>
                </a:solidFill>
              </a:rPr>
              <a:t>Generate</a:t>
            </a:r>
            <a:r>
              <a:rPr lang="en-US" dirty="0"/>
              <a:t> a </a:t>
            </a:r>
            <a:r>
              <a:rPr lang="en-US" dirty="0">
                <a:solidFill>
                  <a:srgbClr val="92D050"/>
                </a:solidFill>
              </a:rPr>
              <a:t>POJO</a:t>
            </a:r>
            <a:r>
              <a:rPr lang="en-US" dirty="0"/>
              <a:t> Class using </a:t>
            </a:r>
            <a:r>
              <a:rPr lang="en-IN" dirty="0">
                <a:solidFill>
                  <a:srgbClr val="92D050"/>
                </a:solidFill>
              </a:rPr>
              <a:t>jsonschema2pojo-maven-plugin</a:t>
            </a:r>
          </a:p>
        </p:txBody>
      </p:sp>
      <p:sp>
        <p:nvSpPr>
          <p:cNvPr id="3" name="Subtitle 2">
            <a:extLst>
              <a:ext uri="{FF2B5EF4-FFF2-40B4-BE49-F238E27FC236}">
                <a16:creationId xmlns:a16="http://schemas.microsoft.com/office/drawing/2014/main" id="{4E2DEC6B-9841-1543-F8AC-DFA5C18A9A6E}"/>
              </a:ext>
            </a:extLst>
          </p:cNvPr>
          <p:cNvSpPr>
            <a:spLocks noGrp="1"/>
          </p:cNvSpPr>
          <p:nvPr>
            <p:ph type="subTitle" idx="1"/>
          </p:nvPr>
        </p:nvSpPr>
        <p:spPr>
          <a:xfrm>
            <a:off x="4242317" y="3564639"/>
            <a:ext cx="7044808" cy="493012"/>
          </a:xfrm>
        </p:spPr>
        <p:txBody>
          <a:bodyPr/>
          <a:lstStyle/>
          <a:p>
            <a:r>
              <a:rPr lang="en-US" b="1" dirty="0">
                <a:solidFill>
                  <a:srgbClr val="92D050"/>
                </a:solidFill>
              </a:rPr>
              <a:t>Serialization</a:t>
            </a:r>
            <a:endParaRPr lang="en-IN" b="1" dirty="0">
              <a:solidFill>
                <a:srgbClr val="92D050"/>
              </a:solidFill>
            </a:endParaRPr>
          </a:p>
        </p:txBody>
      </p:sp>
    </p:spTree>
    <p:extLst>
      <p:ext uri="{BB962C8B-B14F-4D97-AF65-F5344CB8AC3E}">
        <p14:creationId xmlns:p14="http://schemas.microsoft.com/office/powerpoint/2010/main" val="8048598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7536F-BAC9-DB61-1CA4-DDDD5FD37E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DBD8CF-EB36-CCC5-E617-B4ACB49AE10E}"/>
              </a:ext>
            </a:extLst>
          </p:cNvPr>
          <p:cNvSpPr>
            <a:spLocks noGrp="1"/>
          </p:cNvSpPr>
          <p:nvPr>
            <p:ph type="title"/>
          </p:nvPr>
        </p:nvSpPr>
        <p:spPr>
          <a:xfrm>
            <a:off x="127819" y="215805"/>
            <a:ext cx="7694818" cy="1325563"/>
          </a:xfrm>
        </p:spPr>
        <p:txBody>
          <a:bodyPr>
            <a:normAutofit/>
          </a:bodyPr>
          <a:lstStyle/>
          <a:p>
            <a:r>
              <a:rPr lang="en-IN" dirty="0"/>
              <a:t>jsonschema2pojo-maven-plugin</a:t>
            </a:r>
            <a:endParaRPr lang="en-US" sz="5400" b="1" dirty="0">
              <a:latin typeface="+mn-lt"/>
            </a:endParaRPr>
          </a:p>
        </p:txBody>
      </p:sp>
      <p:sp>
        <p:nvSpPr>
          <p:cNvPr id="3" name="Content Placeholder 2">
            <a:extLst>
              <a:ext uri="{FF2B5EF4-FFF2-40B4-BE49-F238E27FC236}">
                <a16:creationId xmlns:a16="http://schemas.microsoft.com/office/drawing/2014/main" id="{FC4C4488-F131-34A7-3850-64DCB2C7BE0D}"/>
              </a:ext>
            </a:extLst>
          </p:cNvPr>
          <p:cNvSpPr>
            <a:spLocks noGrp="1"/>
          </p:cNvSpPr>
          <p:nvPr>
            <p:ph idx="1"/>
          </p:nvPr>
        </p:nvSpPr>
        <p:spPr>
          <a:xfrm>
            <a:off x="127819" y="1446651"/>
            <a:ext cx="10274710" cy="3964697"/>
          </a:xfrm>
        </p:spPr>
        <p:txBody>
          <a:bodyPr>
            <a:normAutofit/>
          </a:bodyPr>
          <a:lstStyle/>
          <a:p>
            <a:pPr algn="just">
              <a:lnSpc>
                <a:spcPct val="150000"/>
              </a:lnSpc>
              <a:buFont typeface="Wingdings" panose="05000000000000000000" pitchFamily="2" charset="2"/>
              <a:buChar char="q"/>
            </a:pPr>
            <a:r>
              <a:rPr lang="en-US" dirty="0"/>
              <a:t>The </a:t>
            </a:r>
            <a:r>
              <a:rPr lang="en-US" dirty="0">
                <a:solidFill>
                  <a:srgbClr val="92D050"/>
                </a:solidFill>
              </a:rPr>
              <a:t>jsonschema2pojo-maven-plugin</a:t>
            </a:r>
            <a:r>
              <a:rPr lang="en-US" dirty="0"/>
              <a:t> is a Maven plugin designed to generate Plain Old Java Objects (POJOs) from JSON schema files.</a:t>
            </a:r>
          </a:p>
          <a:p>
            <a:pPr algn="just">
              <a:lnSpc>
                <a:spcPct val="150000"/>
              </a:lnSpc>
              <a:buFont typeface="Wingdings" panose="05000000000000000000" pitchFamily="2" charset="2"/>
              <a:buChar char="q"/>
            </a:pPr>
            <a:r>
              <a:rPr lang="en-US" dirty="0"/>
              <a:t>This plugin automates the creation of Java classes that correspond to the structure defined in your JSON schemas, saving development time and reducing the potential for manual errors in data model creation.</a:t>
            </a:r>
          </a:p>
        </p:txBody>
      </p:sp>
      <p:sp>
        <p:nvSpPr>
          <p:cNvPr id="4" name="Rectangle 1">
            <a:extLst>
              <a:ext uri="{FF2B5EF4-FFF2-40B4-BE49-F238E27FC236}">
                <a16:creationId xmlns:a16="http://schemas.microsoft.com/office/drawing/2014/main" id="{30CE1313-2EA9-BF0A-4BCC-16DE624305C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1D35"/>
                </a:solidFill>
                <a:effectLst/>
                <a:latin typeface="Google Sans"/>
              </a:rPr>
              <a:t>The </a:t>
            </a:r>
            <a:r>
              <a:rPr kumimoji="0" lang="en-US" altLang="en-US" sz="1200" b="0" i="0" u="none" strike="noStrike" cap="none" normalizeH="0" baseline="0" dirty="0">
                <a:ln>
                  <a:noFill/>
                </a:ln>
                <a:solidFill>
                  <a:srgbClr val="001D35"/>
                </a:solidFill>
                <a:effectLst/>
                <a:latin typeface="Courier New" panose="02070309020205020404" pitchFamily="49" charset="0"/>
                <a:cs typeface="Courier New" panose="02070309020205020404" pitchFamily="49" charset="0"/>
              </a:rPr>
              <a:t>jsonschema2pojo-maven-plugin</a:t>
            </a:r>
            <a:r>
              <a:rPr kumimoji="0" lang="en-US" altLang="en-US" sz="1200" b="0" i="0" u="none" strike="noStrike" cap="none" normalizeH="0" baseline="0" dirty="0">
                <a:ln>
                  <a:noFill/>
                </a:ln>
                <a:solidFill>
                  <a:srgbClr val="001D35"/>
                </a:solidFill>
                <a:effectLst/>
                <a:latin typeface="Google Sans"/>
              </a:rPr>
              <a:t> is a Maven plugin designed to generate Plain Old Java Objects (POJOs) from JSON schema files.</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643356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404DE-7CB8-D006-B340-06E5CFDC97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8B9543-C3AD-9DE5-BADC-8598A7816903}"/>
              </a:ext>
            </a:extLst>
          </p:cNvPr>
          <p:cNvSpPr>
            <a:spLocks noGrp="1"/>
          </p:cNvSpPr>
          <p:nvPr>
            <p:ph type="title"/>
          </p:nvPr>
        </p:nvSpPr>
        <p:spPr>
          <a:xfrm>
            <a:off x="127819" y="215805"/>
            <a:ext cx="7694818" cy="1325563"/>
          </a:xfrm>
        </p:spPr>
        <p:txBody>
          <a:bodyPr>
            <a:normAutofit/>
          </a:bodyPr>
          <a:lstStyle/>
          <a:p>
            <a:r>
              <a:rPr lang="en-US" sz="5400" b="1" dirty="0">
                <a:latin typeface="+mn-lt"/>
              </a:rPr>
              <a:t>Pom.xml</a:t>
            </a:r>
          </a:p>
        </p:txBody>
      </p:sp>
      <p:sp>
        <p:nvSpPr>
          <p:cNvPr id="3" name="Content Placeholder 2">
            <a:extLst>
              <a:ext uri="{FF2B5EF4-FFF2-40B4-BE49-F238E27FC236}">
                <a16:creationId xmlns:a16="http://schemas.microsoft.com/office/drawing/2014/main" id="{195EBC75-0F20-DEDF-8D32-1FA6320689CF}"/>
              </a:ext>
            </a:extLst>
          </p:cNvPr>
          <p:cNvSpPr>
            <a:spLocks noGrp="1"/>
          </p:cNvSpPr>
          <p:nvPr>
            <p:ph idx="1"/>
          </p:nvPr>
        </p:nvSpPr>
        <p:spPr>
          <a:xfrm>
            <a:off x="127819" y="1446651"/>
            <a:ext cx="10274710" cy="3964697"/>
          </a:xfrm>
        </p:spPr>
        <p:txBody>
          <a:bodyPr>
            <a:normAutofit/>
          </a:bodyPr>
          <a:lstStyle/>
          <a:p>
            <a:pPr marL="0" indent="0">
              <a:buNone/>
            </a:pPr>
            <a:r>
              <a:rPr lang="en-IN" dirty="0"/>
              <a:t>&lt;groupId&gt;org.jsonschema2pojo&lt;/groupId&gt;</a:t>
            </a:r>
          </a:p>
          <a:p>
            <a:pPr marL="0" indent="0">
              <a:buNone/>
            </a:pPr>
            <a:r>
              <a:rPr lang="en-IN" dirty="0"/>
              <a:t>&lt;artifactId&gt;jsonschema2pojo-maven-plugin&lt;/artifactId&gt;</a:t>
            </a:r>
          </a:p>
          <a:p>
            <a:pPr marL="0" indent="0">
              <a:buNone/>
            </a:pPr>
            <a:r>
              <a:rPr lang="en-IN" dirty="0"/>
              <a:t>&lt;version&gt;1.2.2&lt;/version&gt;</a:t>
            </a:r>
          </a:p>
          <a:p>
            <a:pPr marL="0" indent="0">
              <a:lnSpc>
                <a:spcPct val="100000"/>
              </a:lnSpc>
              <a:spcBef>
                <a:spcPts val="0"/>
              </a:spcBef>
              <a:buNone/>
            </a:pPr>
            <a:endParaRPr lang="en-US" dirty="0"/>
          </a:p>
        </p:txBody>
      </p:sp>
    </p:spTree>
    <p:extLst>
      <p:ext uri="{BB962C8B-B14F-4D97-AF65-F5344CB8AC3E}">
        <p14:creationId xmlns:p14="http://schemas.microsoft.com/office/powerpoint/2010/main" val="24196313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41C13-F743-FFC3-3E14-9B34363507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00271-4EE0-78E6-91C6-C1EEDA279CD5}"/>
              </a:ext>
            </a:extLst>
          </p:cNvPr>
          <p:cNvSpPr>
            <a:spLocks noGrp="1"/>
          </p:cNvSpPr>
          <p:nvPr>
            <p:ph type="title"/>
          </p:nvPr>
        </p:nvSpPr>
        <p:spPr>
          <a:xfrm>
            <a:off x="127819" y="215805"/>
            <a:ext cx="7694818" cy="1325563"/>
          </a:xfrm>
        </p:spPr>
        <p:txBody>
          <a:bodyPr>
            <a:normAutofit/>
          </a:bodyPr>
          <a:lstStyle/>
          <a:p>
            <a:r>
              <a:rPr lang="en-IN" dirty="0"/>
              <a:t>jsonschema2pojo-maven-plugin</a:t>
            </a:r>
            <a:endParaRPr lang="en-US" sz="5400" b="1" dirty="0">
              <a:latin typeface="+mn-lt"/>
            </a:endParaRPr>
          </a:p>
        </p:txBody>
      </p:sp>
      <p:sp>
        <p:nvSpPr>
          <p:cNvPr id="3" name="Content Placeholder 2">
            <a:extLst>
              <a:ext uri="{FF2B5EF4-FFF2-40B4-BE49-F238E27FC236}">
                <a16:creationId xmlns:a16="http://schemas.microsoft.com/office/drawing/2014/main" id="{E5C0D8E0-8992-CFF4-0A5A-EC5744F04A65}"/>
              </a:ext>
            </a:extLst>
          </p:cNvPr>
          <p:cNvSpPr>
            <a:spLocks noGrp="1"/>
          </p:cNvSpPr>
          <p:nvPr>
            <p:ph idx="1"/>
          </p:nvPr>
        </p:nvSpPr>
        <p:spPr>
          <a:xfrm>
            <a:off x="127819" y="1446651"/>
            <a:ext cx="10274710" cy="3964697"/>
          </a:xfrm>
        </p:spPr>
        <p:txBody>
          <a:bodyPr>
            <a:normAutofit/>
          </a:bodyPr>
          <a:lstStyle/>
          <a:p>
            <a:pPr algn="just">
              <a:lnSpc>
                <a:spcPct val="150000"/>
              </a:lnSpc>
              <a:buFont typeface="Wingdings" panose="05000000000000000000" pitchFamily="2" charset="2"/>
              <a:buChar char="q"/>
            </a:pPr>
            <a:r>
              <a:rPr lang="en-US" dirty="0"/>
              <a:t>The </a:t>
            </a:r>
            <a:r>
              <a:rPr lang="en-US" dirty="0">
                <a:solidFill>
                  <a:srgbClr val="92D050"/>
                </a:solidFill>
              </a:rPr>
              <a:t>jsonschema2pojo-maven-plugin</a:t>
            </a:r>
            <a:r>
              <a:rPr lang="en-US" dirty="0"/>
              <a:t> is a Maven plugin designed to generate Plain Old Java Objects (POJOs) from JSON schema files.</a:t>
            </a:r>
          </a:p>
          <a:p>
            <a:pPr algn="just">
              <a:lnSpc>
                <a:spcPct val="150000"/>
              </a:lnSpc>
              <a:buFont typeface="Wingdings" panose="05000000000000000000" pitchFamily="2" charset="2"/>
              <a:buChar char="q"/>
            </a:pPr>
            <a:r>
              <a:rPr lang="en-US" dirty="0"/>
              <a:t>This plugin automates the creation of Java classes that correspond to the structure defined in your JSON schemas, saving development time and reducing the potential for manual errors in data model creation.</a:t>
            </a:r>
          </a:p>
        </p:txBody>
      </p:sp>
      <p:sp>
        <p:nvSpPr>
          <p:cNvPr id="4" name="Rectangle 1">
            <a:extLst>
              <a:ext uri="{FF2B5EF4-FFF2-40B4-BE49-F238E27FC236}">
                <a16:creationId xmlns:a16="http://schemas.microsoft.com/office/drawing/2014/main" id="{4096A77D-2257-FDEF-FC95-F3BA6CB6C07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1D35"/>
                </a:solidFill>
                <a:effectLst/>
                <a:latin typeface="Google Sans"/>
              </a:rPr>
              <a:t>The </a:t>
            </a:r>
            <a:r>
              <a:rPr kumimoji="0" lang="en-US" altLang="en-US" sz="1200" b="0" i="0" u="none" strike="noStrike" cap="none" normalizeH="0" baseline="0" dirty="0">
                <a:ln>
                  <a:noFill/>
                </a:ln>
                <a:solidFill>
                  <a:srgbClr val="001D35"/>
                </a:solidFill>
                <a:effectLst/>
                <a:latin typeface="Courier New" panose="02070309020205020404" pitchFamily="49" charset="0"/>
                <a:cs typeface="Courier New" panose="02070309020205020404" pitchFamily="49" charset="0"/>
              </a:rPr>
              <a:t>jsonschema2pojo-maven-plugin</a:t>
            </a:r>
            <a:r>
              <a:rPr kumimoji="0" lang="en-US" altLang="en-US" sz="1200" b="0" i="0" u="none" strike="noStrike" cap="none" normalizeH="0" baseline="0" dirty="0">
                <a:ln>
                  <a:noFill/>
                </a:ln>
                <a:solidFill>
                  <a:srgbClr val="001D35"/>
                </a:solidFill>
                <a:effectLst/>
                <a:latin typeface="Google Sans"/>
              </a:rPr>
              <a:t> is a Maven plugin designed to generate Plain Old Java Objects (POJOs) from JSON schema files.</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221955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2DADA-5410-FBB2-3BC2-8C267AEFDB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40C7EF-AC50-5267-364D-05DB901DE40A}"/>
              </a:ext>
            </a:extLst>
          </p:cNvPr>
          <p:cNvSpPr>
            <a:spLocks noGrp="1"/>
          </p:cNvSpPr>
          <p:nvPr>
            <p:ph type="title"/>
          </p:nvPr>
        </p:nvSpPr>
        <p:spPr>
          <a:xfrm>
            <a:off x="127819" y="215805"/>
            <a:ext cx="7694818" cy="1325563"/>
          </a:xfrm>
        </p:spPr>
        <p:txBody>
          <a:bodyPr>
            <a:normAutofit/>
          </a:bodyPr>
          <a:lstStyle/>
          <a:p>
            <a:r>
              <a:rPr lang="en-IN" dirty="0"/>
              <a:t>Key features and usage</a:t>
            </a:r>
            <a:endParaRPr lang="en-US" sz="5400" b="1" dirty="0">
              <a:latin typeface="+mn-lt"/>
            </a:endParaRPr>
          </a:p>
        </p:txBody>
      </p:sp>
      <p:sp>
        <p:nvSpPr>
          <p:cNvPr id="3" name="Content Placeholder 2">
            <a:extLst>
              <a:ext uri="{FF2B5EF4-FFF2-40B4-BE49-F238E27FC236}">
                <a16:creationId xmlns:a16="http://schemas.microsoft.com/office/drawing/2014/main" id="{D41C9024-C0A5-5191-B44D-E8FA4664A951}"/>
              </a:ext>
            </a:extLst>
          </p:cNvPr>
          <p:cNvSpPr>
            <a:spLocks noGrp="1"/>
          </p:cNvSpPr>
          <p:nvPr>
            <p:ph idx="1"/>
          </p:nvPr>
        </p:nvSpPr>
        <p:spPr>
          <a:xfrm>
            <a:off x="127819" y="1446651"/>
            <a:ext cx="10274710" cy="3964697"/>
          </a:xfrm>
        </p:spPr>
        <p:txBody>
          <a:bodyPr>
            <a:normAutofit/>
          </a:bodyPr>
          <a:lstStyle/>
          <a:p>
            <a:pPr algn="just">
              <a:lnSpc>
                <a:spcPct val="150000"/>
              </a:lnSpc>
              <a:buFont typeface="Wingdings" panose="05000000000000000000" pitchFamily="2" charset="2"/>
              <a:buChar char="v"/>
            </a:pPr>
            <a:r>
              <a:rPr lang="en-US" dirty="0">
                <a:solidFill>
                  <a:srgbClr val="92D050"/>
                </a:solidFill>
              </a:rPr>
              <a:t>Automatic POJO Generation</a:t>
            </a:r>
            <a:r>
              <a:rPr lang="en-US" dirty="0"/>
              <a:t>: The core function is to take JSON schema files as input and automatically generate corresponding Java classes. These classes represent the data structure described by the schema, including fields, types, and potentially nested objects or lists.</a:t>
            </a:r>
          </a:p>
          <a:p>
            <a:pPr algn="just">
              <a:lnSpc>
                <a:spcPct val="150000"/>
              </a:lnSpc>
              <a:buFont typeface="Wingdings" panose="05000000000000000000" pitchFamily="2" charset="2"/>
              <a:buChar char="v"/>
            </a:pPr>
            <a:r>
              <a:rPr lang="en-US" dirty="0">
                <a:solidFill>
                  <a:srgbClr val="92D050"/>
                </a:solidFill>
              </a:rPr>
              <a:t>Maven Integration</a:t>
            </a:r>
            <a:r>
              <a:rPr lang="en-US" dirty="0"/>
              <a:t>: As a Maven plugin, it integrates seamlessly into your project's build lifecycle. You add the plugin configuration to your pom.xml file, and the generation process can be triggered during a Maven build phase, typically generate-sources.</a:t>
            </a:r>
          </a:p>
        </p:txBody>
      </p:sp>
      <p:sp>
        <p:nvSpPr>
          <p:cNvPr id="4" name="Rectangle 1">
            <a:extLst>
              <a:ext uri="{FF2B5EF4-FFF2-40B4-BE49-F238E27FC236}">
                <a16:creationId xmlns:a16="http://schemas.microsoft.com/office/drawing/2014/main" id="{7F21732B-868A-20C7-DDBC-E6D94465AAE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1D35"/>
                </a:solidFill>
                <a:effectLst/>
                <a:latin typeface="Google Sans"/>
              </a:rPr>
              <a:t>The </a:t>
            </a:r>
            <a:r>
              <a:rPr kumimoji="0" lang="en-US" altLang="en-US" sz="1200" b="0" i="0" u="none" strike="noStrike" cap="none" normalizeH="0" baseline="0" dirty="0">
                <a:ln>
                  <a:noFill/>
                </a:ln>
                <a:solidFill>
                  <a:srgbClr val="001D35"/>
                </a:solidFill>
                <a:effectLst/>
                <a:latin typeface="Courier New" panose="02070309020205020404" pitchFamily="49" charset="0"/>
                <a:cs typeface="Courier New" panose="02070309020205020404" pitchFamily="49" charset="0"/>
              </a:rPr>
              <a:t>jsonschema2pojo-maven-plugin</a:t>
            </a:r>
            <a:r>
              <a:rPr kumimoji="0" lang="en-US" altLang="en-US" sz="1200" b="0" i="0" u="none" strike="noStrike" cap="none" normalizeH="0" baseline="0" dirty="0">
                <a:ln>
                  <a:noFill/>
                </a:ln>
                <a:solidFill>
                  <a:srgbClr val="001D35"/>
                </a:solidFill>
                <a:effectLst/>
                <a:latin typeface="Google Sans"/>
              </a:rPr>
              <a:t> is a Maven plugin designed to generate Plain Old Java Objects (POJOs) from JSON schema files.</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057696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EAF57-AF34-E76C-1C1C-2570FEC7DA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6BE810-E40B-526E-8900-800CF23FCE76}"/>
              </a:ext>
            </a:extLst>
          </p:cNvPr>
          <p:cNvSpPr>
            <a:spLocks noGrp="1"/>
          </p:cNvSpPr>
          <p:nvPr>
            <p:ph type="title"/>
          </p:nvPr>
        </p:nvSpPr>
        <p:spPr>
          <a:xfrm>
            <a:off x="127819" y="215805"/>
            <a:ext cx="7694818" cy="1325563"/>
          </a:xfrm>
        </p:spPr>
        <p:txBody>
          <a:bodyPr>
            <a:normAutofit/>
          </a:bodyPr>
          <a:lstStyle/>
          <a:p>
            <a:r>
              <a:rPr lang="en-US" sz="5400" b="1" dirty="0">
                <a:latin typeface="+mn-lt"/>
              </a:rPr>
              <a:t>Pom.xml</a:t>
            </a:r>
          </a:p>
        </p:txBody>
      </p:sp>
      <p:sp>
        <p:nvSpPr>
          <p:cNvPr id="3" name="Content Placeholder 2">
            <a:extLst>
              <a:ext uri="{FF2B5EF4-FFF2-40B4-BE49-F238E27FC236}">
                <a16:creationId xmlns:a16="http://schemas.microsoft.com/office/drawing/2014/main" id="{CAFE6598-D0FA-C1FC-78A2-338BE0796269}"/>
              </a:ext>
            </a:extLst>
          </p:cNvPr>
          <p:cNvSpPr>
            <a:spLocks noGrp="1"/>
          </p:cNvSpPr>
          <p:nvPr>
            <p:ph idx="1"/>
          </p:nvPr>
        </p:nvSpPr>
        <p:spPr>
          <a:xfrm>
            <a:off x="127819" y="1735900"/>
            <a:ext cx="10274710" cy="3964697"/>
          </a:xfrm>
        </p:spPr>
        <p:txBody>
          <a:bodyPr>
            <a:normAutofit/>
          </a:bodyPr>
          <a:lstStyle/>
          <a:p>
            <a:pPr marL="0" indent="0">
              <a:buNone/>
            </a:pPr>
            <a:r>
              <a:rPr lang="en-IN" dirty="0"/>
              <a:t>&lt;build&gt;</a:t>
            </a:r>
          </a:p>
          <a:p>
            <a:pPr marL="0" indent="0">
              <a:buNone/>
            </a:pPr>
            <a:r>
              <a:rPr lang="en-IN" dirty="0"/>
              <a:t>  &lt;plugins&gt;</a:t>
            </a:r>
          </a:p>
          <a:p>
            <a:pPr marL="0" indent="0">
              <a:buNone/>
            </a:pPr>
            <a:r>
              <a:rPr lang="en-IN" dirty="0"/>
              <a:t>    &lt;plugin&gt;</a:t>
            </a:r>
          </a:p>
          <a:p>
            <a:pPr marL="0" indent="0">
              <a:buNone/>
            </a:pPr>
            <a:r>
              <a:rPr lang="en-IN" dirty="0"/>
              <a:t>      &lt;groupId&gt;org.jsonschema2pojo&lt;/groupId&gt;</a:t>
            </a:r>
          </a:p>
          <a:p>
            <a:pPr marL="0" indent="0">
              <a:buNone/>
            </a:pPr>
            <a:r>
              <a:rPr lang="en-IN" dirty="0"/>
              <a:t>      &lt;artifactId&gt;jsonschema2pojo-maven-plugin&lt;/artifactId&gt;</a:t>
            </a:r>
          </a:p>
          <a:p>
            <a:pPr marL="0" indent="0">
              <a:buNone/>
            </a:pPr>
            <a:r>
              <a:rPr lang="en-IN" dirty="0"/>
              <a:t>      &lt;version&gt;1.2.2&lt;/version&gt;</a:t>
            </a:r>
          </a:p>
          <a:p>
            <a:pPr marL="0" indent="0">
              <a:buNone/>
            </a:pPr>
            <a:r>
              <a:rPr lang="en-IN" dirty="0"/>
              <a:t>    &lt;plugin&gt;</a:t>
            </a:r>
          </a:p>
          <a:p>
            <a:pPr marL="0" indent="0">
              <a:buNone/>
            </a:pPr>
            <a:r>
              <a:rPr lang="en-IN" dirty="0"/>
              <a:t>  &lt;plugins&gt;</a:t>
            </a:r>
          </a:p>
          <a:p>
            <a:pPr marL="0" indent="0">
              <a:buNone/>
            </a:pPr>
            <a:r>
              <a:rPr lang="en-IN" dirty="0"/>
              <a:t>&lt;build&gt;</a:t>
            </a:r>
          </a:p>
          <a:p>
            <a:pPr marL="0" indent="0">
              <a:lnSpc>
                <a:spcPct val="100000"/>
              </a:lnSpc>
              <a:spcBef>
                <a:spcPts val="0"/>
              </a:spcBef>
              <a:buNone/>
            </a:pPr>
            <a:endParaRPr lang="en-US" dirty="0"/>
          </a:p>
        </p:txBody>
      </p:sp>
    </p:spTree>
    <p:extLst>
      <p:ext uri="{BB962C8B-B14F-4D97-AF65-F5344CB8AC3E}">
        <p14:creationId xmlns:p14="http://schemas.microsoft.com/office/powerpoint/2010/main" val="32933580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D2047-36B8-9816-1318-6D944AE32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6751D7-2008-4970-146E-EFD506F0AAE6}"/>
              </a:ext>
            </a:extLst>
          </p:cNvPr>
          <p:cNvSpPr>
            <a:spLocks noGrp="1"/>
          </p:cNvSpPr>
          <p:nvPr>
            <p:ph type="title"/>
          </p:nvPr>
        </p:nvSpPr>
        <p:spPr>
          <a:xfrm>
            <a:off x="127819" y="215805"/>
            <a:ext cx="7694818" cy="1325563"/>
          </a:xfrm>
        </p:spPr>
        <p:txBody>
          <a:bodyPr>
            <a:normAutofit/>
          </a:bodyPr>
          <a:lstStyle/>
          <a:p>
            <a:r>
              <a:rPr lang="en-US" sz="5400" b="1" dirty="0">
                <a:latin typeface="+mn-lt"/>
              </a:rPr>
              <a:t>Pom.xml</a:t>
            </a:r>
          </a:p>
        </p:txBody>
      </p:sp>
      <p:sp>
        <p:nvSpPr>
          <p:cNvPr id="3" name="Content Placeholder 2">
            <a:extLst>
              <a:ext uri="{FF2B5EF4-FFF2-40B4-BE49-F238E27FC236}">
                <a16:creationId xmlns:a16="http://schemas.microsoft.com/office/drawing/2014/main" id="{9AFF4FE6-9479-1130-E8E8-92348EA7C3E8}"/>
              </a:ext>
            </a:extLst>
          </p:cNvPr>
          <p:cNvSpPr>
            <a:spLocks noGrp="1"/>
          </p:cNvSpPr>
          <p:nvPr>
            <p:ph idx="1"/>
          </p:nvPr>
        </p:nvSpPr>
        <p:spPr>
          <a:xfrm>
            <a:off x="127819" y="1735900"/>
            <a:ext cx="10274710" cy="3964697"/>
          </a:xfrm>
        </p:spPr>
        <p:txBody>
          <a:bodyPr>
            <a:normAutofit/>
          </a:bodyPr>
          <a:lstStyle/>
          <a:p>
            <a:pPr marL="0" indent="0">
              <a:buNone/>
            </a:pPr>
            <a:r>
              <a:rPr lang="en-IN" dirty="0"/>
              <a:t>&lt;configuration&gt;</a:t>
            </a:r>
          </a:p>
          <a:p>
            <a:pPr marL="0" indent="0">
              <a:buNone/>
            </a:pPr>
            <a:r>
              <a:rPr lang="en-IN" dirty="0"/>
              <a:t>  &lt;sourceType&gt;json&lt;/sourceType&gt;</a:t>
            </a:r>
          </a:p>
          <a:p>
            <a:pPr marL="0" indent="0">
              <a:buNone/>
            </a:pPr>
            <a:r>
              <a:rPr lang="en-IN" dirty="0"/>
              <a:t>  &lt;sourceDirectory&gt;${basedir}/src/main/resources/json&lt;/sourceDirectory&gt;</a:t>
            </a:r>
          </a:p>
          <a:p>
            <a:pPr marL="0" indent="0">
              <a:buNone/>
            </a:pPr>
            <a:r>
              <a:rPr lang="en-IN" dirty="0"/>
              <a:t>  &lt;targetPackage&gt;com.example.pojos&lt;/targetPackage&gt;</a:t>
            </a:r>
          </a:p>
          <a:p>
            <a:pPr marL="0" indent="0">
              <a:buNone/>
            </a:pPr>
            <a:r>
              <a:rPr lang="en-IN" dirty="0"/>
              <a:t>  &lt;outputDirectory&gt;${basedir}/src/main/java&lt;/outputDirectory&gt;</a:t>
            </a:r>
          </a:p>
          <a:p>
            <a:pPr marL="0" indent="0">
              <a:buNone/>
            </a:pPr>
            <a:r>
              <a:rPr lang="en-IN" dirty="0"/>
              <a:t>  &lt;annotationStyle&gt;none&lt;/annotationStyle&gt;</a:t>
            </a:r>
          </a:p>
          <a:p>
            <a:pPr marL="0" indent="0">
              <a:buNone/>
            </a:pPr>
            <a:r>
              <a:rPr lang="en-IN" dirty="0"/>
              <a:t>  &lt;includeHashcodeAndEquals&gt;false&lt;/includeHashcodeAndEquals&gt;</a:t>
            </a:r>
          </a:p>
          <a:p>
            <a:pPr marL="0" indent="0">
              <a:buNone/>
            </a:pPr>
            <a:r>
              <a:rPr lang="en-IN" dirty="0"/>
              <a:t>  &lt;includeToString&gt;false&lt;/includeToString&gt;</a:t>
            </a:r>
          </a:p>
          <a:p>
            <a:pPr marL="0" indent="0">
              <a:buNone/>
            </a:pPr>
            <a:r>
              <a:rPr lang="en-IN" dirty="0"/>
              <a:t>&lt;/configuration&gt;</a:t>
            </a:r>
          </a:p>
          <a:p>
            <a:pPr marL="0" indent="0">
              <a:lnSpc>
                <a:spcPct val="100000"/>
              </a:lnSpc>
              <a:spcBef>
                <a:spcPts val="0"/>
              </a:spcBef>
              <a:buNone/>
            </a:pPr>
            <a:endParaRPr lang="en-US" dirty="0"/>
          </a:p>
        </p:txBody>
      </p:sp>
    </p:spTree>
    <p:extLst>
      <p:ext uri="{BB962C8B-B14F-4D97-AF65-F5344CB8AC3E}">
        <p14:creationId xmlns:p14="http://schemas.microsoft.com/office/powerpoint/2010/main" val="41534799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4C8DA-AE04-E700-9059-DD276957A5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0AF8D1-2F1A-EFC8-FB13-25B6D1A0CE7E}"/>
              </a:ext>
            </a:extLst>
          </p:cNvPr>
          <p:cNvSpPr>
            <a:spLocks noGrp="1"/>
          </p:cNvSpPr>
          <p:nvPr>
            <p:ph type="title"/>
          </p:nvPr>
        </p:nvSpPr>
        <p:spPr>
          <a:xfrm>
            <a:off x="127819" y="215805"/>
            <a:ext cx="7694818" cy="1325563"/>
          </a:xfrm>
        </p:spPr>
        <p:txBody>
          <a:bodyPr>
            <a:normAutofit/>
          </a:bodyPr>
          <a:lstStyle/>
          <a:p>
            <a:r>
              <a:rPr lang="en-IN" b="1" dirty="0"/>
              <a:t>Configuration Options</a:t>
            </a:r>
            <a:endParaRPr lang="en-US" sz="5400" b="1" dirty="0">
              <a:latin typeface="+mn-lt"/>
            </a:endParaRPr>
          </a:p>
        </p:txBody>
      </p:sp>
      <p:sp>
        <p:nvSpPr>
          <p:cNvPr id="3" name="Content Placeholder 2">
            <a:extLst>
              <a:ext uri="{FF2B5EF4-FFF2-40B4-BE49-F238E27FC236}">
                <a16:creationId xmlns:a16="http://schemas.microsoft.com/office/drawing/2014/main" id="{BE5CFABD-5E91-0F8C-921F-94B86A9A1FCA}"/>
              </a:ext>
            </a:extLst>
          </p:cNvPr>
          <p:cNvSpPr>
            <a:spLocks noGrp="1"/>
          </p:cNvSpPr>
          <p:nvPr>
            <p:ph idx="1"/>
          </p:nvPr>
        </p:nvSpPr>
        <p:spPr>
          <a:xfrm>
            <a:off x="127819" y="1446651"/>
            <a:ext cx="10274710" cy="3964697"/>
          </a:xfrm>
        </p:spPr>
        <p:txBody>
          <a:bodyPr>
            <a:normAutofit/>
          </a:bodyPr>
          <a:lstStyle/>
          <a:p>
            <a:pPr marL="0" indent="0" algn="just">
              <a:lnSpc>
                <a:spcPct val="150000"/>
              </a:lnSpc>
              <a:buNone/>
            </a:pPr>
            <a:r>
              <a:rPr lang="en-US" dirty="0"/>
              <a:t>The plugin offers various configuration options to customize the generated POJOs. These include:</a:t>
            </a:r>
          </a:p>
          <a:p>
            <a:pPr algn="just">
              <a:lnSpc>
                <a:spcPct val="150000"/>
              </a:lnSpc>
              <a:buFont typeface="Wingdings" panose="05000000000000000000" pitchFamily="2" charset="2"/>
              <a:buChar char="v"/>
            </a:pPr>
            <a:r>
              <a:rPr lang="en-US" dirty="0">
                <a:solidFill>
                  <a:srgbClr val="92D050"/>
                </a:solidFill>
              </a:rPr>
              <a:t>sourceType</a:t>
            </a:r>
            <a:r>
              <a:rPr lang="en-US" dirty="0"/>
              <a:t>: Indicates the type of source document (e.g., jsonschema, json, yamlschema, yaml).</a:t>
            </a:r>
          </a:p>
          <a:p>
            <a:pPr algn="just">
              <a:lnSpc>
                <a:spcPct val="150000"/>
              </a:lnSpc>
              <a:buFont typeface="Wingdings" panose="05000000000000000000" pitchFamily="2" charset="2"/>
              <a:buChar char="v"/>
            </a:pPr>
            <a:r>
              <a:rPr lang="en-US" dirty="0">
                <a:solidFill>
                  <a:srgbClr val="92D050"/>
                </a:solidFill>
              </a:rPr>
              <a:t>sourceDirectory</a:t>
            </a:r>
            <a:r>
              <a:rPr lang="en-US" dirty="0"/>
              <a:t>: Specifies the directory containing your JSON schema files.</a:t>
            </a:r>
          </a:p>
          <a:p>
            <a:pPr algn="just">
              <a:lnSpc>
                <a:spcPct val="150000"/>
              </a:lnSpc>
              <a:buFont typeface="Wingdings" panose="05000000000000000000" pitchFamily="2" charset="2"/>
              <a:buChar char="v"/>
            </a:pPr>
            <a:r>
              <a:rPr lang="en-IN" dirty="0">
                <a:solidFill>
                  <a:srgbClr val="92D050"/>
                </a:solidFill>
              </a:rPr>
              <a:t>outputDirectory</a:t>
            </a:r>
            <a:r>
              <a:rPr lang="en-IN" dirty="0"/>
              <a:t>: S</a:t>
            </a:r>
            <a:r>
              <a:rPr lang="en-US" dirty="0"/>
              <a:t>pecifies the target directory where the generated Java source files will be placed</a:t>
            </a:r>
          </a:p>
          <a:p>
            <a:pPr algn="just">
              <a:lnSpc>
                <a:spcPct val="150000"/>
              </a:lnSpc>
              <a:buFont typeface="Wingdings" panose="05000000000000000000" pitchFamily="2" charset="2"/>
              <a:buChar char="v"/>
            </a:pPr>
            <a:r>
              <a:rPr lang="en-US" dirty="0">
                <a:solidFill>
                  <a:srgbClr val="92D050"/>
                </a:solidFill>
              </a:rPr>
              <a:t>targetPackage</a:t>
            </a:r>
            <a:r>
              <a:rPr lang="en-US" dirty="0"/>
              <a:t>: Defines the Java package where the generated classes will reside.</a:t>
            </a:r>
          </a:p>
          <a:p>
            <a:pPr algn="just">
              <a:lnSpc>
                <a:spcPct val="150000"/>
              </a:lnSpc>
              <a:buFont typeface="Wingdings" panose="05000000000000000000" pitchFamily="2" charset="2"/>
              <a:buChar char="v"/>
            </a:pPr>
            <a:r>
              <a:rPr lang="en-US" dirty="0">
                <a:solidFill>
                  <a:srgbClr val="92D050"/>
                </a:solidFill>
              </a:rPr>
              <a:t>annotationStyle</a:t>
            </a:r>
            <a:r>
              <a:rPr lang="en-US" dirty="0"/>
              <a:t>: Allows choosing the annotation style for generated classes (e.g., jackson, gson, none).</a:t>
            </a:r>
          </a:p>
        </p:txBody>
      </p:sp>
      <p:sp>
        <p:nvSpPr>
          <p:cNvPr id="4" name="Rectangle 1">
            <a:extLst>
              <a:ext uri="{FF2B5EF4-FFF2-40B4-BE49-F238E27FC236}">
                <a16:creationId xmlns:a16="http://schemas.microsoft.com/office/drawing/2014/main" id="{A2F0132B-A81A-B53F-2CD5-AF86A2C297F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1D35"/>
                </a:solidFill>
                <a:effectLst/>
                <a:latin typeface="Google Sans"/>
              </a:rPr>
              <a:t>The </a:t>
            </a:r>
            <a:r>
              <a:rPr kumimoji="0" lang="en-US" altLang="en-US" sz="1200" b="0" i="0" u="none" strike="noStrike" cap="none" normalizeH="0" baseline="0" dirty="0">
                <a:ln>
                  <a:noFill/>
                </a:ln>
                <a:solidFill>
                  <a:srgbClr val="001D35"/>
                </a:solidFill>
                <a:effectLst/>
                <a:latin typeface="Courier New" panose="02070309020205020404" pitchFamily="49" charset="0"/>
                <a:cs typeface="Courier New" panose="02070309020205020404" pitchFamily="49" charset="0"/>
              </a:rPr>
              <a:t>jsonschema2pojo-maven-plugin</a:t>
            </a:r>
            <a:r>
              <a:rPr kumimoji="0" lang="en-US" altLang="en-US" sz="1200" b="0" i="0" u="none" strike="noStrike" cap="none" normalizeH="0" baseline="0" dirty="0">
                <a:ln>
                  <a:noFill/>
                </a:ln>
                <a:solidFill>
                  <a:srgbClr val="001D35"/>
                </a:solidFill>
                <a:effectLst/>
                <a:latin typeface="Google Sans"/>
              </a:rPr>
              <a:t> is a Maven plugin designed to generate Plain Old Java Objects (POJOs) from JSON schema files.</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461527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EB78F-E1CF-7654-1511-551F8D215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084497-BDD0-D997-A194-BA1A7A64E421}"/>
              </a:ext>
            </a:extLst>
          </p:cNvPr>
          <p:cNvSpPr>
            <a:spLocks noGrp="1"/>
          </p:cNvSpPr>
          <p:nvPr>
            <p:ph type="title"/>
          </p:nvPr>
        </p:nvSpPr>
        <p:spPr>
          <a:xfrm>
            <a:off x="127819" y="215805"/>
            <a:ext cx="7694818" cy="1325563"/>
          </a:xfrm>
        </p:spPr>
        <p:txBody>
          <a:bodyPr>
            <a:normAutofit/>
          </a:bodyPr>
          <a:lstStyle/>
          <a:p>
            <a:r>
              <a:rPr lang="en-US" sz="5400" b="1" dirty="0">
                <a:latin typeface="+mn-lt"/>
              </a:rPr>
              <a:t>Pom.xml</a:t>
            </a:r>
          </a:p>
        </p:txBody>
      </p:sp>
      <p:sp>
        <p:nvSpPr>
          <p:cNvPr id="3" name="Content Placeholder 2">
            <a:extLst>
              <a:ext uri="{FF2B5EF4-FFF2-40B4-BE49-F238E27FC236}">
                <a16:creationId xmlns:a16="http://schemas.microsoft.com/office/drawing/2014/main" id="{3C63D9F7-8E3C-7515-F7B3-4BF16C37232B}"/>
              </a:ext>
            </a:extLst>
          </p:cNvPr>
          <p:cNvSpPr>
            <a:spLocks noGrp="1"/>
          </p:cNvSpPr>
          <p:nvPr>
            <p:ph idx="1"/>
          </p:nvPr>
        </p:nvSpPr>
        <p:spPr>
          <a:xfrm>
            <a:off x="127819" y="1735900"/>
            <a:ext cx="10274710" cy="3964697"/>
          </a:xfrm>
        </p:spPr>
        <p:txBody>
          <a:bodyPr>
            <a:normAutofit/>
          </a:bodyPr>
          <a:lstStyle/>
          <a:p>
            <a:pPr marL="0" indent="0">
              <a:buNone/>
            </a:pPr>
            <a:r>
              <a:rPr lang="en-US" dirty="0"/>
              <a:t>&lt;executions&gt;</a:t>
            </a:r>
          </a:p>
          <a:p>
            <a:pPr marL="0" indent="0">
              <a:buNone/>
            </a:pPr>
            <a:r>
              <a:rPr lang="en-US" dirty="0"/>
              <a:t>  &lt;execution&gt;</a:t>
            </a:r>
          </a:p>
          <a:p>
            <a:pPr marL="0" indent="0">
              <a:buNone/>
            </a:pPr>
            <a:r>
              <a:rPr lang="en-US" dirty="0"/>
              <a:t>    &lt;goals&gt;</a:t>
            </a:r>
          </a:p>
          <a:p>
            <a:pPr marL="0" indent="0">
              <a:buNone/>
            </a:pPr>
            <a:r>
              <a:rPr lang="en-US" dirty="0"/>
              <a:t>      &lt;goal&gt;generate&lt;/goal&gt;</a:t>
            </a:r>
          </a:p>
          <a:p>
            <a:pPr marL="0" indent="0">
              <a:buNone/>
            </a:pPr>
            <a:r>
              <a:rPr lang="en-US" dirty="0"/>
              <a:t>    &lt;/goals&gt;</a:t>
            </a:r>
          </a:p>
          <a:p>
            <a:pPr marL="0" indent="0">
              <a:buNone/>
            </a:pPr>
            <a:r>
              <a:rPr lang="en-US" dirty="0"/>
              <a:t>  &lt;/execution&gt;</a:t>
            </a:r>
          </a:p>
          <a:p>
            <a:pPr marL="0" indent="0">
              <a:buNone/>
            </a:pPr>
            <a:r>
              <a:rPr lang="en-US" dirty="0"/>
              <a:t>&lt;/executions&gt;</a:t>
            </a:r>
          </a:p>
          <a:p>
            <a:pPr marL="0" indent="0">
              <a:lnSpc>
                <a:spcPct val="100000"/>
              </a:lnSpc>
              <a:spcBef>
                <a:spcPts val="0"/>
              </a:spcBef>
              <a:buNone/>
            </a:pPr>
            <a:endParaRPr lang="en-US" dirty="0"/>
          </a:p>
        </p:txBody>
      </p:sp>
    </p:spTree>
    <p:extLst>
      <p:ext uri="{BB962C8B-B14F-4D97-AF65-F5344CB8AC3E}">
        <p14:creationId xmlns:p14="http://schemas.microsoft.com/office/powerpoint/2010/main" val="11915702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b69fb4e-a79c-4f80-82ef-c95361dd7dc3">
      <Terms xmlns="http://schemas.microsoft.com/office/infopath/2007/PartnerControls"/>
    </lcf76f155ced4ddcb4097134ff3c332f>
    <TaxCatchAll xmlns="f1491f5c-7a69-4ec9-b2f7-f196c7ec70e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4AEA23CC7FB954C8DC5509995B588CC" ma:contentTypeVersion="16" ma:contentTypeDescription="Create a new document." ma:contentTypeScope="" ma:versionID="637f9d61ffb4e8c09a0f3402bf31b188">
  <xsd:schema xmlns:xsd="http://www.w3.org/2001/XMLSchema" xmlns:xs="http://www.w3.org/2001/XMLSchema" xmlns:p="http://schemas.microsoft.com/office/2006/metadata/properties" xmlns:ns2="6b69fb4e-a79c-4f80-82ef-c95361dd7dc3" xmlns:ns3="f1491f5c-7a69-4ec9-b2f7-f196c7ec70e0" targetNamespace="http://schemas.microsoft.com/office/2006/metadata/properties" ma:root="true" ma:fieldsID="ac56efa900ac7aee6b192fa98e53e540" ns2:_="" ns3:_="">
    <xsd:import namespace="6b69fb4e-a79c-4f80-82ef-c95361dd7dc3"/>
    <xsd:import namespace="f1491f5c-7a69-4ec9-b2f7-f196c7ec70e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69fb4e-a79c-4f80-82ef-c95361dd7d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ebda6a7-6b37-4000-ac6c-4fd0a96389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f1491f5c-7a69-4ec9-b2f7-f196c7ec70e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36b24918-f8a5-46ca-ad7f-aada09951f9f}" ma:internalName="TaxCatchAll" ma:showField="CatchAllData" ma:web="f1491f5c-7a69-4ec9-b2f7-f196c7ec70e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4613125-6242-4F1A-9E76-E2F56394AFDF}">
  <ds:schemaRefs>
    <ds:schemaRef ds:uri="http://schemas.microsoft.com/sharepoint/v3/contenttype/forms"/>
  </ds:schemaRefs>
</ds:datastoreItem>
</file>

<file path=customXml/itemProps2.xml><?xml version="1.0" encoding="utf-8"?>
<ds:datastoreItem xmlns:ds="http://schemas.openxmlformats.org/officeDocument/2006/customXml" ds:itemID="{A3DF73D9-F99D-4A40-BF35-EFC35BA244B0}">
  <ds:schemaRefs>
    <ds:schemaRef ds:uri="http://schemas.microsoft.com/office/2006/metadata/properties"/>
    <ds:schemaRef ds:uri="http://schemas.microsoft.com/office/infopath/2007/PartnerControls"/>
    <ds:schemaRef ds:uri="6b69fb4e-a79c-4f80-82ef-c95361dd7dc3"/>
    <ds:schemaRef ds:uri="f1491f5c-7a69-4ec9-b2f7-f196c7ec70e0"/>
  </ds:schemaRefs>
</ds:datastoreItem>
</file>

<file path=customXml/itemProps3.xml><?xml version="1.0" encoding="utf-8"?>
<ds:datastoreItem xmlns:ds="http://schemas.openxmlformats.org/officeDocument/2006/customXml" ds:itemID="{E982AE5F-BB85-4468-AE6A-0B48424094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69fb4e-a79c-4f80-82ef-c95361dd7dc3"/>
    <ds:schemaRef ds:uri="f1491f5c-7a69-4ec9-b2f7-f196c7ec70e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TM03457452[[fn=Celestial]]</Template>
  <TotalTime>2852</TotalTime>
  <Words>3058</Words>
  <Application>Microsoft Office PowerPoint</Application>
  <PresentationFormat>Widescreen</PresentationFormat>
  <Paragraphs>394</Paragraphs>
  <Slides>50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Arial</vt:lpstr>
      <vt:lpstr>Calibri</vt:lpstr>
      <vt:lpstr>Calibri Light</vt:lpstr>
      <vt:lpstr>Courier New</vt:lpstr>
      <vt:lpstr>Google Sans</vt:lpstr>
      <vt:lpstr>Wingdings</vt:lpstr>
      <vt:lpstr>Celestial</vt:lpstr>
      <vt:lpstr>Performing post request</vt:lpstr>
      <vt:lpstr>REST-Assured Pattern</vt:lpstr>
      <vt:lpstr>Rest Assured Syntax</vt:lpstr>
      <vt:lpstr>Explanation of the "Given-When-Then" structure:  </vt:lpstr>
      <vt:lpstr>API Request</vt:lpstr>
      <vt:lpstr>Post: Create A new Record</vt:lpstr>
      <vt:lpstr>API Response</vt:lpstr>
      <vt:lpstr>Post: Create A new Record</vt:lpstr>
      <vt:lpstr>PowerPoint Presentation</vt:lpstr>
      <vt:lpstr>PowerPoint Presentation</vt:lpstr>
      <vt:lpstr>Request Payload</vt:lpstr>
      <vt:lpstr>Send Post request with Request Body as String </vt:lpstr>
      <vt:lpstr>PowerPoint Presentation</vt:lpstr>
      <vt:lpstr>API Request</vt:lpstr>
      <vt:lpstr>PowerPoint Presentation</vt:lpstr>
      <vt:lpstr>API Response</vt:lpstr>
      <vt:lpstr>PowerPoint Presentation</vt:lpstr>
      <vt:lpstr>Send Post request with Request Body as File </vt:lpstr>
      <vt:lpstr>PowerPoint Presentation</vt:lpstr>
      <vt:lpstr>API Request</vt:lpstr>
      <vt:lpstr>PowerPoint Presentation</vt:lpstr>
      <vt:lpstr>API Response</vt:lpstr>
      <vt:lpstr>PowerPoint Presentation</vt:lpstr>
      <vt:lpstr>Send Post request with Request Body as POJO Object </vt:lpstr>
      <vt:lpstr>PowerPoint Presentation</vt:lpstr>
      <vt:lpstr>PowerPoint Presentation</vt:lpstr>
      <vt:lpstr>PowerPoint Presentation</vt:lpstr>
      <vt:lpstr>Steps to Create a POJO Class in Java</vt:lpstr>
      <vt:lpstr>PowerPoint Presentation</vt:lpstr>
      <vt:lpstr>PowerPoint Presentation</vt:lpstr>
      <vt:lpstr>PowerPoint Presentation</vt:lpstr>
      <vt:lpstr>PowerPoint Presentation</vt:lpstr>
      <vt:lpstr>PowerPoint Presentation</vt:lpstr>
      <vt:lpstr>API Request</vt:lpstr>
      <vt:lpstr>PowerPoint Presentation</vt:lpstr>
      <vt:lpstr>API Response</vt:lpstr>
      <vt:lpstr>PowerPoint Presentation</vt:lpstr>
      <vt:lpstr>PowerPoint Presentation</vt:lpstr>
      <vt:lpstr>PowerPoint Presentation</vt:lpstr>
      <vt:lpstr>PowerPoint Presentation</vt:lpstr>
      <vt:lpstr>Pom.xml</vt:lpstr>
      <vt:lpstr>Steps to Generate a POJO Class using jsonschema2pojo-maven-plugin</vt:lpstr>
      <vt:lpstr>jsonschema2pojo-maven-plugin</vt:lpstr>
      <vt:lpstr>Pom.xml</vt:lpstr>
      <vt:lpstr>jsonschema2pojo-maven-plugin</vt:lpstr>
      <vt:lpstr>Key features and usage</vt:lpstr>
      <vt:lpstr>Pom.xml</vt:lpstr>
      <vt:lpstr>Pom.xml</vt:lpstr>
      <vt:lpstr>Configuration Options</vt:lpstr>
      <vt:lpstr>Pom.xml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Sergei Tsarik</dc:creator>
  <cp:lastModifiedBy>KAVITHA S</cp:lastModifiedBy>
  <cp:revision>86</cp:revision>
  <dcterms:created xsi:type="dcterms:W3CDTF">2022-09-21T08:24:49Z</dcterms:created>
  <dcterms:modified xsi:type="dcterms:W3CDTF">2025-10-04T06:00:33Z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0x01010084AEA23CC7FB954C8DC5509995B588CC</vt:lpwstr>
  </property>
</Properties>
</file>