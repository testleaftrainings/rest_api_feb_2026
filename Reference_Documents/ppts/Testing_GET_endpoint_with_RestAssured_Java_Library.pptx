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4" r:id="rId5"/>
    <p:sldId id="295" r:id="rId6"/>
    <p:sldId id="297" r:id="rId7"/>
    <p:sldId id="296" r:id="rId8"/>
    <p:sldId id="269" r:id="rId9"/>
    <p:sldId id="278" r:id="rId10"/>
    <p:sldId id="273" r:id="rId11"/>
    <p:sldId id="282" r:id="rId12"/>
    <p:sldId id="277" r:id="rId13"/>
    <p:sldId id="268" r:id="rId14"/>
    <p:sldId id="284" r:id="rId15"/>
    <p:sldId id="283" r:id="rId16"/>
    <p:sldId id="281" r:id="rId17"/>
    <p:sldId id="293" r:id="rId18"/>
    <p:sldId id="285" r:id="rId19"/>
    <p:sldId id="291" r:id="rId20"/>
    <p:sldId id="286" r:id="rId21"/>
    <p:sldId id="287" r:id="rId22"/>
    <p:sldId id="288" r:id="rId23"/>
    <p:sldId id="289" r:id="rId24"/>
    <p:sldId id="290" r:id="rId25"/>
    <p:sldId id="29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9C1D7"/>
    <a:srgbClr val="273852"/>
    <a:srgbClr val="151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22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9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9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2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2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3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3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13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63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3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91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48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3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0382E0-383C-40BD-B191-2EE3638CD38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12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33B3-2A78-D58D-B413-5AF68BE7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81C4-FA0A-F6F6-A652-C889D2638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28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C34E9-548C-552F-02FF-C8273A0A95A3}"/>
              </a:ext>
            </a:extLst>
          </p:cNvPr>
          <p:cNvSpPr txBox="1"/>
          <p:nvPr/>
        </p:nvSpPr>
        <p:spPr>
          <a:xfrm>
            <a:off x="933062" y="2380879"/>
            <a:ext cx="9722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Rest Assured </a:t>
            </a:r>
            <a:r>
              <a:rPr lang="en-US" dirty="0"/>
              <a:t>is a popular open-source Java library designed for testing and validating RESTful web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simplifies the process of interacting with APIs, sending various HTTP requests (GET, POST, PUT, DELETE, etc.), and validating the responses received from the server.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18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BEF1-7D72-F79D-B8B2-735612C2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770D-D785-7E56-C43A-6EAE08B8E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588" y="956560"/>
            <a:ext cx="9517937" cy="3139578"/>
          </a:xfrm>
        </p:spPr>
        <p:txBody>
          <a:bodyPr/>
          <a:lstStyle/>
          <a:p>
            <a:r>
              <a:rPr lang="en-US" dirty="0"/>
              <a:t>Key features and characteristics of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7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C05F8-84EA-9871-F088-33162A454B1D}"/>
              </a:ext>
            </a:extLst>
          </p:cNvPr>
          <p:cNvSpPr txBox="1"/>
          <p:nvPr/>
        </p:nvSpPr>
        <p:spPr>
          <a:xfrm>
            <a:off x="480525" y="569056"/>
            <a:ext cx="109867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</a:rPr>
              <a:t>Java-based</a:t>
            </a:r>
            <a:r>
              <a:rPr lang="en-US" b="1" dirty="0"/>
              <a:t>:</a:t>
            </a:r>
            <a:r>
              <a:rPr lang="en-US" dirty="0"/>
              <a:t> It is a Java library, making it a natural choice for Java projects and integration with Java testing frameworks like JUnit and TestNG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FF00"/>
                </a:solidFill>
              </a:rPr>
              <a:t>DSL (Domain-Specific Language)</a:t>
            </a:r>
            <a:r>
              <a:rPr lang="en-US" dirty="0"/>
              <a:t>: Rest Assured provides a readable and expressive DSL that allows testers to write API tests in a clear and concise manner, often resembling a Behavior-Driven Development (BDD) style with keywords like given, when, and then.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Supports various HTTP methods</a:t>
            </a:r>
            <a:r>
              <a:rPr lang="en-US" b="1" dirty="0"/>
              <a:t>:</a:t>
            </a:r>
            <a:r>
              <a:rPr lang="en-US" dirty="0"/>
              <a:t> It handles all standard HTTP methods, including GET, POST, PUT, DELETE, OPTIONS, PATCH, and HEAD. 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Response validation</a:t>
            </a:r>
            <a:r>
              <a:rPr lang="en-US" b="1" dirty="0"/>
              <a:t>:</a:t>
            </a:r>
            <a:r>
              <a:rPr lang="en-US" dirty="0"/>
              <a:t> It offers robust capabilities for validating API responses, including status codes, status messages, headers, cookies, and the entire response body.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JSON and XML support</a:t>
            </a:r>
            <a:r>
              <a:rPr lang="en-US" b="1" dirty="0"/>
              <a:t>:</a:t>
            </a:r>
            <a:r>
              <a:rPr lang="en-US" dirty="0"/>
              <a:t> It effectively handles both JSON and XML-based web services, including features like JSON Path and XML Path for precise data extraction and validation within the response.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Simplifies API testing</a:t>
            </a:r>
            <a:r>
              <a:rPr lang="en-US" b="1" dirty="0"/>
              <a:t>:</a:t>
            </a:r>
            <a:r>
              <a:rPr lang="en-US" dirty="0"/>
              <a:t> It abstracts away the complexities of HTTP protocol handling, making API testing more accessible and efficient for developers and testers.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5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5D61-B0B2-45B5-BEB6-67F99916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5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+mn-lt"/>
              </a:rPr>
              <a:t>REST-Assured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854C5-41FD-9AB1-2301-8D39AD7C309B}"/>
              </a:ext>
            </a:extLst>
          </p:cNvPr>
          <p:cNvSpPr/>
          <p:nvPr/>
        </p:nvSpPr>
        <p:spPr>
          <a:xfrm>
            <a:off x="2202489" y="2458558"/>
            <a:ext cx="3717453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Given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5959F-99ED-746A-AB5C-5E593247D2F3}"/>
              </a:ext>
            </a:extLst>
          </p:cNvPr>
          <p:cNvSpPr/>
          <p:nvPr/>
        </p:nvSpPr>
        <p:spPr>
          <a:xfrm>
            <a:off x="2202489" y="3401704"/>
            <a:ext cx="3717453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A3A6B-E1CA-FB23-62FB-B77069726658}"/>
              </a:ext>
            </a:extLst>
          </p:cNvPr>
          <p:cNvSpPr/>
          <p:nvPr/>
        </p:nvSpPr>
        <p:spPr>
          <a:xfrm>
            <a:off x="2202489" y="4344850"/>
            <a:ext cx="3717453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13F555-6E05-5C33-0E4A-781B42DDC9EE}"/>
              </a:ext>
            </a:extLst>
          </p:cNvPr>
          <p:cNvSpPr/>
          <p:nvPr/>
        </p:nvSpPr>
        <p:spPr>
          <a:xfrm>
            <a:off x="6056823" y="2458558"/>
            <a:ext cx="4069816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Specify Prerequisites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0B2E2-B07F-3918-0CE6-DD769D48C843}"/>
              </a:ext>
            </a:extLst>
          </p:cNvPr>
          <p:cNvSpPr/>
          <p:nvPr/>
        </p:nvSpPr>
        <p:spPr>
          <a:xfrm>
            <a:off x="6056823" y="3401704"/>
            <a:ext cx="4069816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Describe the action to take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BB851-EC3A-E7F5-3522-33FA47EFD23C}"/>
              </a:ext>
            </a:extLst>
          </p:cNvPr>
          <p:cNvSpPr/>
          <p:nvPr/>
        </p:nvSpPr>
        <p:spPr>
          <a:xfrm>
            <a:off x="6056823" y="4344850"/>
            <a:ext cx="4069816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Describe the expected result</a:t>
            </a:r>
          </a:p>
        </p:txBody>
      </p:sp>
    </p:spTree>
    <p:extLst>
      <p:ext uri="{BB962C8B-B14F-4D97-AF65-F5344CB8AC3E}">
        <p14:creationId xmlns:p14="http://schemas.microsoft.com/office/powerpoint/2010/main" val="85744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F5A2-23BE-6826-1C31-B59570B4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Performing </a:t>
            </a:r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0C28B-675A-C642-8D83-78CAB5202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98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A2B388-2B4F-C517-93EA-B292B54FA340}"/>
              </a:ext>
            </a:extLst>
          </p:cNvPr>
          <p:cNvSpPr txBox="1"/>
          <p:nvPr/>
        </p:nvSpPr>
        <p:spPr>
          <a:xfrm>
            <a:off x="503854" y="2362691"/>
            <a:ext cx="7809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RestAssured.given()</a:t>
            </a:r>
          </a:p>
          <a:p>
            <a:r>
              <a:rPr lang="en-US" dirty="0"/>
              <a:t>                      .auth()</a:t>
            </a:r>
          </a:p>
          <a:p>
            <a:r>
              <a:rPr lang="en-US" dirty="0"/>
              <a:t>                      .basic(“username”, “password”)</a:t>
            </a:r>
          </a:p>
          <a:p>
            <a:r>
              <a:rPr lang="en-US" dirty="0"/>
              <a:t>                      .when()</a:t>
            </a:r>
          </a:p>
          <a:p>
            <a:r>
              <a:rPr lang="en-US" dirty="0"/>
              <a:t>                      .get(“&lt;endpoint-url&gt;”)</a:t>
            </a:r>
          </a:p>
          <a:p>
            <a:r>
              <a:rPr lang="en-US" dirty="0"/>
              <a:t>                      .then()</a:t>
            </a:r>
          </a:p>
          <a:p>
            <a:r>
              <a:rPr lang="en-US" dirty="0"/>
              <a:t>                      .assertThat()</a:t>
            </a:r>
          </a:p>
          <a:p>
            <a:r>
              <a:rPr lang="en-US" dirty="0"/>
              <a:t>                      .statusCode(200);   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41E70D-7EED-B4A5-762F-B7AAE8DC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Rest Assured Syntax</a:t>
            </a:r>
          </a:p>
        </p:txBody>
      </p:sp>
    </p:spTree>
    <p:extLst>
      <p:ext uri="{BB962C8B-B14F-4D97-AF65-F5344CB8AC3E}">
        <p14:creationId xmlns:p14="http://schemas.microsoft.com/office/powerpoint/2010/main" val="127434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617F-F7A8-41D3-7C65-6DE93C61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3F340-CB8F-6C12-1B74-9164F06DE0B3}"/>
              </a:ext>
            </a:extLst>
          </p:cNvPr>
          <p:cNvSpPr txBox="1"/>
          <p:nvPr/>
        </p:nvSpPr>
        <p:spPr>
          <a:xfrm>
            <a:off x="289250" y="2250724"/>
            <a:ext cx="9573207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given()</a:t>
            </a:r>
            <a:r>
              <a:rPr lang="en-US" dirty="0"/>
              <a:t>: This section is used to define the preconditions of the request.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auth().basic("username", "password"): Adds basic authentication to the request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when()</a:t>
            </a:r>
            <a:r>
              <a:rPr lang="en-US" dirty="0"/>
              <a:t>: This section defines the action to be performed.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get(“/&lt;endpoint-url&gt;"): Specifies the HTTP GET method and the path of the resource to be fetched.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then()</a:t>
            </a:r>
            <a:r>
              <a:rPr lang="en-US" dirty="0"/>
              <a:t>: This section defines the assertions to be made on the response.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statusCode(200): Verifies that the HTTP status code of the response is 200 (OK).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AD6739-E8FC-881B-EB08-3AC8147E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1065736"/>
            <a:ext cx="11140751" cy="1296955"/>
          </a:xfrm>
        </p:spPr>
        <p:txBody>
          <a:bodyPr>
            <a:normAutofit fontScale="90000"/>
          </a:bodyPr>
          <a:lstStyle/>
          <a:p>
            <a:r>
              <a:rPr lang="en-US" sz="5300" dirty="0"/>
              <a:t>Explanation of the "Given-When-Then" structure:</a:t>
            </a:r>
            <a:br>
              <a:rPr lang="en-US" dirty="0"/>
            </a:br>
            <a:br>
              <a:rPr lang="en-US" dirty="0"/>
            </a:br>
            <a:endParaRPr lang="en-US" sz="5400" b="1" dirty="0">
              <a:latin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D4A731-B495-7304-B1C7-53367A66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statusCode(200)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 Verifies that the HTTP status code of the response is 200 (OK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7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E845-3357-81A5-4117-983A9D82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B937-F693-3D88-13D2-0A736487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0164-C6FA-D309-2906-7BFC47A2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287506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01C7-94E3-D57F-3F01-A2A03335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E7EA7D-4492-79A5-7F84-C55D4E680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9647"/>
              </p:ext>
            </p:extLst>
          </p:nvPr>
        </p:nvGraphicFramePr>
        <p:xfrm>
          <a:off x="537330" y="2405431"/>
          <a:ext cx="7990849" cy="2835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95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238154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4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8082-8226-DC3E-DD37-D76D9667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522C-5EC4-D41E-A347-80D0BA43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6D30-D6A1-9444-3664-83E4BC631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221592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1A977-3170-FF5B-4C28-119D9651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B428-D4BB-0D09-28A7-A294BD01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A8C1D2-7801-A18F-2F3C-3306F2473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96740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3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328B-169D-0DC9-F26B-EF2A29E5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5C474-C638-F3F5-E4CF-7C0A7EE4529A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798E5-522B-1450-9671-475CB25C4356}"/>
              </a:ext>
            </a:extLst>
          </p:cNvPr>
          <p:cNvSpPr txBox="1"/>
          <p:nvPr/>
        </p:nvSpPr>
        <p:spPr>
          <a:xfrm>
            <a:off x="207606" y="961053"/>
            <a:ext cx="1086549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(200));</a:t>
            </a:r>
          </a:p>
        </p:txBody>
      </p:sp>
    </p:spTree>
    <p:extLst>
      <p:ext uri="{BB962C8B-B14F-4D97-AF65-F5344CB8AC3E}">
        <p14:creationId xmlns:p14="http://schemas.microsoft.com/office/powerpoint/2010/main" val="1650136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28E5-BB37-18A4-4F3F-0B58FF713E18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FD18-14CA-A68F-0B47-1D2DC07B0C2C}"/>
              </a:ext>
            </a:extLst>
          </p:cNvPr>
          <p:cNvSpPr txBox="1">
            <a:spLocks/>
          </p:cNvSpPr>
          <p:nvPr/>
        </p:nvSpPr>
        <p:spPr>
          <a:xfrm>
            <a:off x="207441" y="1946705"/>
            <a:ext cx="10760363" cy="24384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Creates a matcher that matches when the examined object is logically equal to the specified </a:t>
            </a:r>
            <a:r>
              <a:rPr lang="en-US" sz="1800" i="1" dirty="0"/>
              <a:t>operand</a:t>
            </a:r>
            <a:r>
              <a:rPr lang="en-US" sz="1800" dirty="0"/>
              <a:t>, as determined by calling the Object.equals(java.lang.Object) method on the examined object.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sz="1800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== statusCode(200)</a:t>
            </a:r>
            <a:endParaRPr lang="en-US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8116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724A-DB5D-19A2-0F71-4278C840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3267-34CC-6C10-D1D4-5CE9BBB6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 with </a:t>
            </a:r>
            <a:r>
              <a:rPr lang="en-US" dirty="0">
                <a:solidFill>
                  <a:srgbClr val="92D05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Parameter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A9CBF-01DB-BBC5-1451-C821742C6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53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609F-9C77-AAE3-5055-4F4E5228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6F58F2-60C8-E3B0-D82A-6903AB363B1D}"/>
              </a:ext>
            </a:extLst>
          </p:cNvPr>
          <p:cNvSpPr/>
          <p:nvPr/>
        </p:nvSpPr>
        <p:spPr>
          <a:xfrm>
            <a:off x="327892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FC571-267A-894E-DD71-6966908867D0}"/>
              </a:ext>
            </a:extLst>
          </p:cNvPr>
          <p:cNvSpPr/>
          <p:nvPr/>
        </p:nvSpPr>
        <p:spPr>
          <a:xfrm>
            <a:off x="3460953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Prerequisites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08F0B-1B89-08B2-BDF2-1CAAF5048EE5}"/>
              </a:ext>
            </a:extLst>
          </p:cNvPr>
          <p:cNvSpPr/>
          <p:nvPr/>
        </p:nvSpPr>
        <p:spPr>
          <a:xfrm>
            <a:off x="3460953" y="2588198"/>
            <a:ext cx="3014639" cy="711162"/>
          </a:xfrm>
          <a:prstGeom prst="rect">
            <a:avLst/>
          </a:prstGeom>
          <a:solidFill>
            <a:srgbClr val="4472C4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EEF011-8058-1A8E-3314-CEC70D75D95A}"/>
              </a:ext>
            </a:extLst>
          </p:cNvPr>
          <p:cNvSpPr/>
          <p:nvPr/>
        </p:nvSpPr>
        <p:spPr>
          <a:xfrm>
            <a:off x="3460953" y="3299360"/>
            <a:ext cx="3014639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queryParam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0BB9B-B372-BCE8-E7F0-ADA5255F8341}"/>
              </a:ext>
            </a:extLst>
          </p:cNvPr>
          <p:cNvSpPr/>
          <p:nvPr/>
        </p:nvSpPr>
        <p:spPr>
          <a:xfrm>
            <a:off x="6594849" y="3299360"/>
            <a:ext cx="5273877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a query parameter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that'll be sent with the request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11379-A3AE-C77D-39E7-04C76170A692}"/>
              </a:ext>
            </a:extLst>
          </p:cNvPr>
          <p:cNvSpPr/>
          <p:nvPr/>
        </p:nvSpPr>
        <p:spPr>
          <a:xfrm>
            <a:off x="3460953" y="4399442"/>
            <a:ext cx="3014639" cy="104968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method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36307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9C56-A88A-27A5-809B-5C996D87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58FA-6AD9-3CCB-9FD9-B84B57FB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D9D85-03A3-38B3-3A5A-5A014731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Query Parameter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339852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9E8D-A396-69F2-DD6F-9CD01AFA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52F1-7208-2533-7726-2ECEDF5A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535965-9559-94B9-DCBD-D79C46E70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276497"/>
              </p:ext>
            </p:extLst>
          </p:nvPr>
        </p:nvGraphicFramePr>
        <p:xfrm>
          <a:off x="506314" y="2078860"/>
          <a:ext cx="8737299" cy="3307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7250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690049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Query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sysparm_query=category=hardware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727061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00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7A79-D748-1704-0471-1B4C5752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437-3925-2E12-41AE-B6EBAAD2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142F-A9CD-DE37-6B8E-573C6422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911480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C209-F3AC-ED4F-D105-2A0B126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1460-A308-9537-9964-5B347D1F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5DD10E5-FB10-585F-2DDE-3AE9845A3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997306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 with filter data based on the query parameters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68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852F8-7D41-6A97-6337-0E28EA12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E7991-DAE6-47DD-5D75-9357893B669C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18FE8-FB81-A51F-B944-5CFE2B264A7B}"/>
              </a:ext>
            </a:extLst>
          </p:cNvPr>
          <p:cNvSpPr txBox="1"/>
          <p:nvPr/>
        </p:nvSpPr>
        <p:spPr>
          <a:xfrm>
            <a:off x="207606" y="335845"/>
            <a:ext cx="1086549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Filter only hardware category data</a:t>
            </a:r>
          </a:p>
          <a:p>
            <a:r>
              <a:rPr lang="en-IN" dirty="0"/>
              <a:t>            .queryParam("sysparam_query", "category=hardware")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total count of the hardware category in the JSON Array response</a:t>
            </a:r>
          </a:p>
          <a:p>
            <a:r>
              <a:rPr lang="en-IN" dirty="0"/>
              <a:t>            .body ("result.category", Matchers.</a:t>
            </a:r>
            <a:r>
              <a:rPr lang="en-IN" i="1" dirty="0"/>
              <a:t>hasSize</a:t>
            </a:r>
            <a:r>
              <a:rPr lang="en-IN" dirty="0"/>
              <a:t>(10))</a:t>
            </a:r>
          </a:p>
          <a:p>
            <a:r>
              <a:rPr lang="en-IN" dirty="0">
                <a:solidFill>
                  <a:srgbClr val="FFFF00"/>
                </a:solidFill>
              </a:rPr>
              <a:t>             // Assert category filed contains only hardware value in the JSON Array response</a:t>
            </a:r>
          </a:p>
          <a:p>
            <a:r>
              <a:rPr lang="en-IN" dirty="0"/>
              <a:t>            .body("result.category", </a:t>
            </a:r>
            <a:r>
              <a:rPr lang="en-US" dirty="0"/>
              <a:t>Matchers.</a:t>
            </a:r>
            <a:r>
              <a:rPr lang="en-US" i="1" dirty="0"/>
              <a:t>everyItem</a:t>
            </a:r>
            <a:r>
              <a:rPr lang="en-US" dirty="0"/>
              <a:t>(Matchers.</a:t>
            </a:r>
            <a:r>
              <a:rPr lang="en-US" i="1" dirty="0"/>
              <a:t>equalToIgnoringCase</a:t>
            </a:r>
            <a:r>
              <a:rPr lang="en-US" dirty="0"/>
              <a:t>("hardware"))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3703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F321E1-A217-F15E-2E0D-30046DA50975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06B48-8494-C26C-5C04-29A60102FBDC}"/>
              </a:ext>
            </a:extLst>
          </p:cNvPr>
          <p:cNvSpPr txBox="1"/>
          <p:nvPr/>
        </p:nvSpPr>
        <p:spPr>
          <a:xfrm>
            <a:off x="457200" y="1642188"/>
            <a:ext cx="83975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everyItem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equalToIgnoringCase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("hardware"))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everyItem method in Hamcrest matchers is used to assert that every item within an Iterable (like a List or Set) satisfies a given condition.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Matchers.hasSize(10)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hasSize method in Hamcrest is a matcher used to assert the size of a Collection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212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AEA23CC7FB954C8DC5509995B588CC" ma:contentTypeVersion="16" ma:contentTypeDescription="Create a new document." ma:contentTypeScope="" ma:versionID="637f9d61ffb4e8c09a0f3402bf31b188">
  <xsd:schema xmlns:xsd="http://www.w3.org/2001/XMLSchema" xmlns:xs="http://www.w3.org/2001/XMLSchema" xmlns:p="http://schemas.microsoft.com/office/2006/metadata/properties" xmlns:ns2="6b69fb4e-a79c-4f80-82ef-c95361dd7dc3" xmlns:ns3="f1491f5c-7a69-4ec9-b2f7-f196c7ec70e0" targetNamespace="http://schemas.microsoft.com/office/2006/metadata/properties" ma:root="true" ma:fieldsID="ac56efa900ac7aee6b192fa98e53e540" ns2:_="" ns3:_="">
    <xsd:import namespace="6b69fb4e-a79c-4f80-82ef-c95361dd7dc3"/>
    <xsd:import namespace="f1491f5c-7a69-4ec9-b2f7-f196c7ec70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9fb4e-a79c-4f80-82ef-c95361dd7d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491f5c-7a69-4ec9-b2f7-f196c7ec70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6b24918-f8a5-46ca-ad7f-aada09951f9f}" ma:internalName="TaxCatchAll" ma:showField="CatchAllData" ma:web="f1491f5c-7a69-4ec9-b2f7-f196c7ec70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69fb4e-a79c-4f80-82ef-c95361dd7dc3">
      <Terms xmlns="http://schemas.microsoft.com/office/infopath/2007/PartnerControls"/>
    </lcf76f155ced4ddcb4097134ff3c332f>
    <TaxCatchAll xmlns="f1491f5c-7a69-4ec9-b2f7-f196c7ec70e0" xsi:nil="true"/>
  </documentManagement>
</p:properties>
</file>

<file path=customXml/itemProps1.xml><?xml version="1.0" encoding="utf-8"?>
<ds:datastoreItem xmlns:ds="http://schemas.openxmlformats.org/officeDocument/2006/customXml" ds:itemID="{E982AE5F-BB85-4468-AE6A-0B48424094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9fb4e-a79c-4f80-82ef-c95361dd7dc3"/>
    <ds:schemaRef ds:uri="f1491f5c-7a69-4ec9-b2f7-f196c7ec70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613125-6242-4F1A-9E76-E2F56394A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DF73D9-F99D-4A40-BF35-EFC35BA244B0}">
  <ds:schemaRefs>
    <ds:schemaRef ds:uri="http://schemas.microsoft.com/office/2006/metadata/properties"/>
    <ds:schemaRef ds:uri="http://schemas.microsoft.com/office/infopath/2007/PartnerControls"/>
    <ds:schemaRef ds:uri="6b69fb4e-a79c-4f80-82ef-c95361dd7dc3"/>
    <ds:schemaRef ds:uri="f1491f5c-7a69-4ec9-b2f7-f196c7ec70e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2350</TotalTime>
  <Words>1201</Words>
  <Application>Microsoft Office PowerPoint</Application>
  <PresentationFormat>Widescreen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Google Sans</vt:lpstr>
      <vt:lpstr>Wingdings</vt:lpstr>
      <vt:lpstr>Celestial</vt:lpstr>
      <vt:lpstr>What’s rest Assured?</vt:lpstr>
      <vt:lpstr>PowerPoint Presentation</vt:lpstr>
      <vt:lpstr>Key features and characteristics of Rest Assured:</vt:lpstr>
      <vt:lpstr>PowerPoint Presentation</vt:lpstr>
      <vt:lpstr>REST-Assured Pattern</vt:lpstr>
      <vt:lpstr>Performing get request</vt:lpstr>
      <vt:lpstr>Rest Assured Syntax</vt:lpstr>
      <vt:lpstr>Explanation of the "Given-When-Then" structure:  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  <vt:lpstr>get request with Query Parameter </vt:lpstr>
      <vt:lpstr>PowerPoint Presentation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Sergei Tsarik</dc:creator>
  <cp:lastModifiedBy>KAVITHA S</cp:lastModifiedBy>
  <cp:revision>46</cp:revision>
  <dcterms:created xsi:type="dcterms:W3CDTF">2022-09-21T08:24:49Z</dcterms:created>
  <dcterms:modified xsi:type="dcterms:W3CDTF">2025-10-04T06:24:29Z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0x01010084AEA23CC7FB954C8DC5509995B588CC</vt:lpwstr>
  </property>
</Properties>
</file>